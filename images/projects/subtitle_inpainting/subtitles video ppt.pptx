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73" r:id="rId14"/>
    <p:sldId id="268" r:id="rId15"/>
    <p:sldId id="269" r:id="rId16"/>
    <p:sldId id="270" r:id="rId17"/>
    <p:sldId id="271" r:id="rId18"/>
    <p:sldId id="272"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90" y="324"/>
      </p:cViewPr>
      <p:guideLst/>
    </p:cSldViewPr>
  </p:slideViewPr>
  <p:notesTextViewPr>
    <p:cViewPr>
      <p:scale>
        <a:sx n="1" d="1"/>
        <a:sy n="1" d="1"/>
      </p:scale>
      <p:origin x="0" y="0"/>
    </p:cViewPr>
  </p:notesTextViewPr>
  <p:notesViewPr>
    <p:cSldViewPr snapToGrid="0">
      <p:cViewPr varScale="1">
        <p:scale>
          <a:sx n="61" d="100"/>
          <a:sy n="61" d="100"/>
        </p:scale>
        <p:origin x="189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0DA33-9786-4F4C-8FDD-7ECD774573D5}" type="datetimeFigureOut">
              <a:rPr lang="en-US" smtClean="0"/>
              <a:t>11/28/2017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B0C114-2C6A-45F1-B75D-748A22E138C6}" type="slidenum">
              <a:rPr lang="en-US" smtClean="0"/>
              <a:t>‹#›</a:t>
            </a:fld>
            <a:endParaRPr lang="en-US"/>
          </a:p>
        </p:txBody>
      </p:sp>
    </p:spTree>
    <p:extLst>
      <p:ext uri="{BB962C8B-B14F-4D97-AF65-F5344CB8AC3E}">
        <p14:creationId xmlns:p14="http://schemas.microsoft.com/office/powerpoint/2010/main" val="1846254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D3FA6BA-EE13-4926-9595-E673ACCCA0EE}" type="datetimeFigureOut">
              <a:rPr lang="en-US" smtClean="0"/>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683175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a:solidFill>
                  <a:schemeClr val="bg1"/>
                </a:solidFill>
                <a:latin typeface="Tw Cen MT" panose="020B0602020104020603"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800">
                <a:solidFill>
                  <a:schemeClr val="bg1"/>
                </a:solidFill>
                <a:latin typeface="Tw Cen MT" panose="020B0602020104020603" pitchFamily="34" charset="0"/>
              </a:defRPr>
            </a:lvl1pPr>
            <a:lvl2pPr>
              <a:defRPr sz="2600">
                <a:solidFill>
                  <a:schemeClr val="bg1"/>
                </a:solidFill>
                <a:latin typeface="Tw Cen MT" panose="020B0602020104020603" pitchFamily="34" charset="0"/>
              </a:defRPr>
            </a:lvl2pPr>
            <a:lvl3pPr>
              <a:defRPr sz="2400">
                <a:solidFill>
                  <a:schemeClr val="bg1"/>
                </a:solidFill>
                <a:latin typeface="Tw Cen MT" panose="020B0602020104020603" pitchFamily="34" charset="0"/>
              </a:defRPr>
            </a:lvl3pPr>
            <a:lvl4pPr>
              <a:defRPr sz="2200">
                <a:solidFill>
                  <a:schemeClr val="bg1"/>
                </a:solidFill>
                <a:latin typeface="Tw Cen MT" panose="020B0602020104020603" pitchFamily="34" charset="0"/>
              </a:defRPr>
            </a:lvl4pPr>
            <a:lvl5pPr>
              <a:defRPr sz="2000">
                <a:solidFill>
                  <a:schemeClr val="bg1"/>
                </a:solidFill>
                <a:latin typeface="Tw Cen MT" panose="020B0602020104020603"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DD3FA6BA-EE13-4926-9595-E673ACCCA0EE}" type="datetimeFigureOut">
              <a:rPr lang="en-US" smtClean="0"/>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168155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D3FA6BA-EE13-4926-9595-E673ACCCA0EE}" type="datetimeFigureOut">
              <a:rPr lang="en-US" smtClean="0"/>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3094981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D3FA6BA-EE13-4926-9595-E673ACCCA0EE}" type="datetimeFigureOut">
              <a:rPr lang="en-US" smtClean="0"/>
              <a:t>11/28/2017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1465582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3FA6BA-EE13-4926-9595-E673ACCCA0EE}" type="datetimeFigureOut">
              <a:rPr lang="en-US" smtClean="0"/>
              <a:t>11/28/2017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293939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D3FA6BA-EE13-4926-9595-E673ACCCA0EE}" type="datetimeFigureOut">
              <a:rPr lang="en-US" smtClean="0"/>
              <a:t>11/28/2017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93589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FA6BA-EE13-4926-9595-E673ACCCA0EE}" type="datetimeFigureOut">
              <a:rPr lang="en-US" smtClean="0"/>
              <a:t>11/28/2017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1092063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3FA6BA-EE13-4926-9595-E673ACCCA0EE}" type="datetimeFigureOut">
              <a:rPr lang="en-US" smtClean="0"/>
              <a:t>11/28/2017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244222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3FA6BA-EE13-4926-9595-E673ACCCA0EE}" type="datetimeFigureOut">
              <a:rPr lang="en-US" smtClean="0"/>
              <a:t>11/28/2017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4274534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3FA6BA-EE13-4926-9595-E673ACCCA0EE}" type="datetimeFigureOut">
              <a:rPr lang="en-US" smtClean="0"/>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1074440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3FA6BA-EE13-4926-9595-E673ACCCA0EE}" type="datetimeFigureOut">
              <a:rPr lang="en-US" smtClean="0"/>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61C80-9EAC-4976-AA19-DA95B7200F25}" type="slidenum">
              <a:rPr lang="en-US" smtClean="0"/>
              <a:t>‹#›</a:t>
            </a:fld>
            <a:endParaRPr lang="en-US"/>
          </a:p>
        </p:txBody>
      </p:sp>
    </p:spTree>
    <p:extLst>
      <p:ext uri="{BB962C8B-B14F-4D97-AF65-F5344CB8AC3E}">
        <p14:creationId xmlns:p14="http://schemas.microsoft.com/office/powerpoint/2010/main" val="3878244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FA6BA-EE13-4926-9595-E673ACCCA0EE}" type="datetimeFigureOut">
              <a:rPr lang="en-US" smtClean="0"/>
              <a:t>11/28/2017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961C80-9EAC-4976-AA19-DA95B7200F25}" type="slidenum">
              <a:rPr lang="en-US" smtClean="0"/>
              <a:t>‹#›</a:t>
            </a:fld>
            <a:endParaRPr lang="en-US"/>
          </a:p>
        </p:txBody>
      </p:sp>
    </p:spTree>
    <p:extLst>
      <p:ext uri="{BB962C8B-B14F-4D97-AF65-F5344CB8AC3E}">
        <p14:creationId xmlns:p14="http://schemas.microsoft.com/office/powerpoint/2010/main" val="1972748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ocw.mit.edu./resources/res-18-002-introduction-to-matlab-spring-2008/lecture-note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TextBox 3"/>
          <p:cNvSpPr txBox="1"/>
          <p:nvPr/>
        </p:nvSpPr>
        <p:spPr>
          <a:xfrm>
            <a:off x="608887" y="1926325"/>
            <a:ext cx="10974221" cy="2694392"/>
          </a:xfrm>
          <a:prstGeom prst="rect">
            <a:avLst/>
          </a:prstGeom>
          <a:noFill/>
        </p:spPr>
        <p:txBody>
          <a:bodyPr wrap="square" rtlCol="0">
            <a:spAutoFit/>
          </a:bodyPr>
          <a:lstStyle/>
          <a:p>
            <a:pPr algn="ctr">
              <a:lnSpc>
                <a:spcPct val="107000"/>
              </a:lnSpc>
              <a:spcAft>
                <a:spcPts val="800"/>
              </a:spcAft>
            </a:pPr>
            <a:r>
              <a:rPr lang="en-IN" sz="8000" dirty="0" smtClean="0">
                <a:ln w="38100">
                  <a:solidFill>
                    <a:schemeClr val="tx1">
                      <a:lumMod val="95000"/>
                      <a:lumOff val="5000"/>
                      <a:alpha val="67000"/>
                    </a:schemeClr>
                  </a:solidFill>
                </a:ln>
                <a:solidFill>
                  <a:schemeClr val="bg1">
                    <a:lumMod val="95000"/>
                  </a:schemeClr>
                </a:solidFill>
                <a:effectLst>
                  <a:outerShdw blurRad="38100" dist="38100" dir="2700000" algn="tl">
                    <a:srgbClr val="000000">
                      <a:alpha val="43137"/>
                    </a:srgbClr>
                  </a:outerShdw>
                </a:effectLst>
                <a:latin typeface="BEHATRICE" pitchFamily="2" charset="0"/>
                <a:ea typeface="Calibri" panose="020F0502020204030204" pitchFamily="34" charset="0"/>
                <a:cs typeface="Times New Roman" panose="02020603050405020304" pitchFamily="18" charset="0"/>
              </a:rPr>
              <a:t>SUBTITLE REMOVAL FROM VIDEO</a:t>
            </a:r>
            <a:endParaRPr lang="en-US" sz="8000" dirty="0">
              <a:ln w="38100">
                <a:solidFill>
                  <a:schemeClr val="tx1">
                    <a:lumMod val="95000"/>
                    <a:lumOff val="5000"/>
                    <a:alpha val="67000"/>
                  </a:schemeClr>
                </a:solidFill>
              </a:ln>
              <a:solidFill>
                <a:schemeClr val="bg1">
                  <a:lumMod val="95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76644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DECLARATION</a:t>
            </a:r>
            <a:endParaRPr lang="en-US" dirty="0"/>
          </a:p>
        </p:txBody>
      </p:sp>
      <p:sp>
        <p:nvSpPr>
          <p:cNvPr id="5" name="Content Placeholder 2">
            <a:extLst>
              <a:ext uri="{FF2B5EF4-FFF2-40B4-BE49-F238E27FC236}">
                <a16:creationId xmlns="" xmlns:a16="http://schemas.microsoft.com/office/drawing/2014/main" id="{E214C757-D9ED-4978-A35A-84F7EF3824C2}"/>
              </a:ext>
            </a:extLst>
          </p:cNvPr>
          <p:cNvSpPr txBox="1">
            <a:spLocks/>
          </p:cNvSpPr>
          <p:nvPr/>
        </p:nvSpPr>
        <p:spPr>
          <a:xfrm>
            <a:off x="354806" y="3015028"/>
            <a:ext cx="11482387" cy="3233738"/>
          </a:xfrm>
          <a:prstGeom prst="rect">
            <a:avLst/>
          </a:prstGeom>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dk1"/>
          </a:fontRef>
        </p:style>
        <p:txBody>
          <a:bodyPr vert="horz" lIns="91440" tIns="45720" rIns="91440" bIns="45720" rtlCol="0">
            <a:normAutofit fontScale="62500" lnSpcReduction="20000"/>
            <a:scene3d>
              <a:camera prst="perspectiveFront"/>
              <a:lightRig rig="threePt" dir="t"/>
            </a:scene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Font typeface="Arial" panose="020B0604020202020204" pitchFamily="34" charset="0"/>
              <a:buNone/>
            </a:pP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I, Sruti Bhattacharjee, hereby, declare that this PowerPoint presentation is an authentic work being carried out by me under the guidance of Dr. </a:t>
            </a:r>
            <a:r>
              <a:rPr lang="en-US" sz="3100" dirty="0" err="1"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Rajat</a:t>
            </a: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 </a:t>
            </a:r>
            <a:r>
              <a:rPr lang="en-US" sz="3100" dirty="0" err="1"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Shubhra</a:t>
            </a: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 Chakraborty of Computer Science and Engineering Department, Indian Institute of Techno and is approved as final year project by Department of Information Technology of MCKV Institute of Engineering. I’m submitting this  to </a:t>
            </a:r>
            <a:r>
              <a:rPr lang="en-US" sz="3100" dirty="0" err="1"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Maulana</a:t>
            </a: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 </a:t>
            </a:r>
            <a:r>
              <a:rPr lang="en-US" sz="3100" dirty="0" err="1"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Abul</a:t>
            </a: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 </a:t>
            </a:r>
            <a:r>
              <a:rPr lang="en-US" sz="3100" dirty="0" err="1"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Kalam</a:t>
            </a:r>
            <a:r>
              <a:rPr lang="en-US" sz="3100" dirty="0" smtClean="0">
                <a:ln w="0"/>
                <a:solidFill>
                  <a:schemeClr val="bg1"/>
                </a:solidFill>
                <a:effectLst>
                  <a:outerShdw blurRad="38100" dist="19050" dir="2700000" algn="tl" rotWithShape="0">
                    <a:schemeClr val="dk1">
                      <a:alpha val="40000"/>
                    </a:schemeClr>
                  </a:outerShdw>
                </a:effectLst>
                <a:latin typeface="Tw Cen MT" panose="020B0602020104020603" pitchFamily="34" charset="0"/>
              </a:rPr>
              <a:t> Azad University of Technology for as a work to get bachelor degree in Information Technology.</a:t>
            </a:r>
          </a:p>
          <a:p>
            <a:pPr marL="0" indent="0" algn="just">
              <a:buFont typeface="Arial" panose="020B0604020202020204" pitchFamily="34" charset="0"/>
              <a:buNone/>
            </a:pPr>
            <a:endParaRPr lang="en-US" dirty="0" smtClean="0">
              <a:ln w="0"/>
              <a:solidFill>
                <a:schemeClr val="bg1"/>
              </a:solidFill>
              <a:effectLst>
                <a:outerShdw blurRad="38100" dist="19050" dir="2700000" algn="tl" rotWithShape="0">
                  <a:schemeClr val="dk1">
                    <a:alpha val="40000"/>
                  </a:schemeClr>
                </a:outerShdw>
              </a:effectLst>
            </a:endParaRPr>
          </a:p>
          <a:p>
            <a:pPr marL="0" indent="0" algn="just">
              <a:buFont typeface="Arial" panose="020B0604020202020204" pitchFamily="34" charset="0"/>
              <a:buNone/>
            </a:pPr>
            <a:r>
              <a:rPr lang="en-IN" dirty="0" smtClean="0">
                <a:ln w="0"/>
                <a:solidFill>
                  <a:schemeClr val="bg1"/>
                </a:solidFill>
                <a:effectLst>
                  <a:outerShdw blurRad="38100" dist="19050" dir="2700000" algn="tl" rotWithShape="0">
                    <a:schemeClr val="dk1">
                      <a:alpha val="40000"/>
                    </a:schemeClr>
                  </a:outerShdw>
                </a:effectLst>
              </a:rPr>
              <a:t>									</a:t>
            </a:r>
            <a:r>
              <a:rPr lang="en-IN" dirty="0" err="1" smtClean="0">
                <a:ln w="0"/>
                <a:solidFill>
                  <a:schemeClr val="bg1"/>
                </a:solidFill>
                <a:effectLst>
                  <a:outerShdw blurRad="38100" dist="19050" dir="2700000" algn="tl" rotWithShape="0">
                    <a:schemeClr val="dk1">
                      <a:alpha val="40000"/>
                    </a:schemeClr>
                  </a:outerShdw>
                </a:effectLst>
                <a:latin typeface="Segoe Print" panose="02000600000000000000" pitchFamily="2" charset="0"/>
              </a:rPr>
              <a:t>Sruti</a:t>
            </a:r>
            <a:r>
              <a:rPr lang="en-IN" dirty="0" smtClean="0">
                <a:ln w="0"/>
                <a:solidFill>
                  <a:schemeClr val="bg1"/>
                </a:solidFill>
                <a:effectLst>
                  <a:outerShdw blurRad="38100" dist="19050" dir="2700000" algn="tl" rotWithShape="0">
                    <a:schemeClr val="dk1">
                      <a:alpha val="40000"/>
                    </a:schemeClr>
                  </a:outerShdw>
                </a:effectLst>
                <a:latin typeface="Segoe Print" panose="02000600000000000000" pitchFamily="2" charset="0"/>
              </a:rPr>
              <a:t> </a:t>
            </a:r>
            <a:r>
              <a:rPr lang="en-IN" dirty="0" err="1" smtClean="0">
                <a:ln w="0"/>
                <a:solidFill>
                  <a:schemeClr val="bg1"/>
                </a:solidFill>
                <a:effectLst>
                  <a:outerShdw blurRad="38100" dist="19050" dir="2700000" algn="tl" rotWithShape="0">
                    <a:schemeClr val="dk1">
                      <a:alpha val="40000"/>
                    </a:schemeClr>
                  </a:outerShdw>
                </a:effectLst>
                <a:latin typeface="Segoe Print" panose="02000600000000000000" pitchFamily="2" charset="0"/>
              </a:rPr>
              <a:t>Bhattacharjee</a:t>
            </a:r>
            <a:endParaRPr lang="en-IN" dirty="0" smtClean="0">
              <a:ln w="0"/>
              <a:solidFill>
                <a:schemeClr val="bg1"/>
              </a:solidFill>
              <a:effectLst>
                <a:outerShdw blurRad="38100" dist="19050" dir="2700000" algn="tl" rotWithShape="0">
                  <a:schemeClr val="dk1">
                    <a:alpha val="40000"/>
                  </a:schemeClr>
                </a:outerShdw>
              </a:effectLst>
              <a:latin typeface="Segoe Print" panose="02000600000000000000" pitchFamily="2" charset="0"/>
            </a:endParaRPr>
          </a:p>
          <a:p>
            <a:pPr marL="0" indent="0" algn="just">
              <a:buFont typeface="Arial" panose="020B0604020202020204" pitchFamily="34" charset="0"/>
              <a:buNone/>
            </a:pPr>
            <a:r>
              <a:rPr lang="en-IN" dirty="0" smtClean="0">
                <a:ln w="0"/>
                <a:solidFill>
                  <a:schemeClr val="bg1"/>
                </a:solidFill>
                <a:effectLst>
                  <a:outerShdw blurRad="38100" dist="19050" dir="2700000" algn="tl" rotWithShape="0">
                    <a:schemeClr val="dk1">
                      <a:alpha val="40000"/>
                    </a:schemeClr>
                  </a:outerShdw>
                </a:effectLst>
                <a:latin typeface="Segoe Print" panose="02000600000000000000" pitchFamily="2" charset="0"/>
              </a:rPr>
              <a:t>									IT/14/20</a:t>
            </a:r>
          </a:p>
          <a:p>
            <a:pPr marL="0" indent="0" algn="just">
              <a:buFont typeface="Arial" panose="020B0604020202020204" pitchFamily="34" charset="0"/>
              <a:buNone/>
            </a:pPr>
            <a:r>
              <a:rPr lang="en-IN" dirty="0" smtClean="0">
                <a:ln w="0"/>
                <a:solidFill>
                  <a:schemeClr val="bg1"/>
                </a:solidFill>
                <a:effectLst>
                  <a:outerShdw blurRad="38100" dist="19050" dir="2700000" algn="tl" rotWithShape="0">
                    <a:schemeClr val="dk1">
                      <a:alpha val="40000"/>
                    </a:schemeClr>
                  </a:outerShdw>
                </a:effectLst>
                <a:latin typeface="Segoe Print" panose="02000600000000000000" pitchFamily="2" charset="0"/>
              </a:rPr>
              <a:t>									Roll No: 11600214049</a:t>
            </a:r>
          </a:p>
          <a:p>
            <a:pPr marL="0" indent="0">
              <a:buFont typeface="Arial" panose="020B0604020202020204" pitchFamily="34" charset="0"/>
              <a:buNone/>
            </a:pPr>
            <a:r>
              <a:rPr lang="en-US" dirty="0" smtClean="0">
                <a:ln w="0"/>
                <a:solidFill>
                  <a:schemeClr val="bg1"/>
                </a:solidFill>
                <a:effectLst>
                  <a:outerShdw blurRad="38100" dist="19050" dir="2700000" algn="tl" rotWithShape="0">
                    <a:schemeClr val="dk1">
                      <a:alpha val="40000"/>
                    </a:schemeClr>
                  </a:outerShdw>
                </a:effectLst>
              </a:rPr>
              <a:t> </a:t>
            </a:r>
            <a:endParaRPr lang="en-IN" dirty="0" smtClean="0">
              <a:ln w="0"/>
              <a:solidFill>
                <a:schemeClr val="bg1"/>
              </a:solidFill>
              <a:effectLst>
                <a:outerShdw blurRad="38100" dist="19050" dir="2700000" algn="tl" rotWithShape="0">
                  <a:schemeClr val="dk1">
                    <a:alpha val="40000"/>
                  </a:schemeClr>
                </a:outerShdw>
              </a:effectLst>
            </a:endParaRPr>
          </a:p>
          <a:p>
            <a:pPr marL="0" indent="0">
              <a:buFont typeface="Arial" panose="020B0604020202020204" pitchFamily="34" charset="0"/>
              <a:buNone/>
            </a:pPr>
            <a:r>
              <a:rPr lang="en-US" dirty="0" smtClean="0">
                <a:ln w="0"/>
                <a:solidFill>
                  <a:schemeClr val="bg1"/>
                </a:solidFill>
                <a:effectLst>
                  <a:outerShdw blurRad="38100" dist="19050" dir="2700000" algn="tl" rotWithShape="0">
                    <a:schemeClr val="dk1">
                      <a:alpha val="40000"/>
                    </a:schemeClr>
                  </a:outerShdw>
                </a:effectLst>
              </a:rPr>
              <a:t> </a:t>
            </a:r>
            <a:endParaRPr lang="en-IN" dirty="0" smtClean="0">
              <a:ln w="0"/>
              <a:solidFill>
                <a:schemeClr val="bg1"/>
              </a:solidFill>
              <a:effectLst>
                <a:outerShdw blurRad="38100" dist="19050" dir="2700000" algn="tl" rotWithShape="0">
                  <a:schemeClr val="dk1">
                    <a:alpha val="40000"/>
                  </a:schemeClr>
                </a:outerShdw>
              </a:effectLst>
            </a:endParaRPr>
          </a:p>
          <a:p>
            <a:pPr marL="0" indent="0">
              <a:buFont typeface="Arial" panose="020B0604020202020204" pitchFamily="34" charset="0"/>
              <a:buNone/>
            </a:pPr>
            <a:endParaRPr lang="en-IN" dirty="0">
              <a:ln w="0"/>
              <a:solidFill>
                <a:schemeClr val="bg1"/>
              </a:solidFill>
              <a:effectLst>
                <a:outerShdw blurRad="38100" dist="19050" dir="2700000" algn="tl" rotWithShape="0">
                  <a:schemeClr val="dk1">
                    <a:alpha val="40000"/>
                  </a:schemeClr>
                </a:outerShdw>
              </a:effectLst>
            </a:endParaRPr>
          </a:p>
        </p:txBody>
      </p:sp>
      <p:pic>
        <p:nvPicPr>
          <p:cNvPr id="6" name="Picture 5" descr="A close up of a sign&#10;&#10;Description generated with very high confidence">
            <a:extLst>
              <a:ext uri="{FF2B5EF4-FFF2-40B4-BE49-F238E27FC236}">
                <a16:creationId xmlns="" xmlns:a16="http://schemas.microsoft.com/office/drawing/2014/main" id="{E9B3D05B-25F4-4629-ACA5-DA3036319D5A}"/>
              </a:ext>
            </a:extLst>
          </p:cNvPr>
          <p:cNvPicPr>
            <a:picLocks noChangeAspect="1"/>
          </p:cNvPicPr>
          <p:nvPr/>
        </p:nvPicPr>
        <p:blipFill>
          <a:blip r:embed="rId2"/>
          <a:stretch>
            <a:fillRect/>
          </a:stretch>
        </p:blipFill>
        <p:spPr>
          <a:xfrm>
            <a:off x="10122819" y="299916"/>
            <a:ext cx="1714374" cy="1919299"/>
          </a:xfrm>
          <a:prstGeom prst="rect">
            <a:avLst/>
          </a:prstGeom>
          <a:effectLst>
            <a:glow rad="317500">
              <a:schemeClr val="bg1"/>
            </a:glow>
          </a:effectLst>
        </p:spPr>
      </p:pic>
      <p:pic>
        <p:nvPicPr>
          <p:cNvPr id="7" name="Content Placeholder 3" descr="A close up of a sign&#10;&#10;Description generated with very high confidence">
            <a:extLst>
              <a:ext uri="{FF2B5EF4-FFF2-40B4-BE49-F238E27FC236}">
                <a16:creationId xmlns="" xmlns:a16="http://schemas.microsoft.com/office/drawing/2014/main" id="{3FE17BE9-3DF1-4EEB-8665-0E2AE1897EDA}"/>
              </a:ext>
            </a:extLst>
          </p:cNvPr>
          <p:cNvPicPr>
            <a:picLocks noGrp="1" noChangeAspect="1"/>
          </p:cNvPicPr>
          <p:nvPr>
            <p:ph idx="1"/>
          </p:nvPr>
        </p:nvPicPr>
        <p:blipFill>
          <a:blip r:embed="rId3"/>
          <a:stretch>
            <a:fillRect/>
          </a:stretch>
        </p:blipFill>
        <p:spPr>
          <a:xfrm>
            <a:off x="177718" y="132677"/>
            <a:ext cx="2523749" cy="2194564"/>
          </a:xfrm>
          <a:prstGeom prst="rect">
            <a:avLst/>
          </a:prstGeom>
        </p:spPr>
      </p:pic>
    </p:spTree>
    <p:extLst>
      <p:ext uri="{BB962C8B-B14F-4D97-AF65-F5344CB8AC3E}">
        <p14:creationId xmlns:p14="http://schemas.microsoft.com/office/powerpoint/2010/main" val="1138334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OBJECTIVES</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IN" dirty="0" smtClean="0"/>
              <a:t> Removal of Hard Coded subtitles from a video </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The video quality should be preserved after removing the subtitles</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Explore basic Image Processing techniques and their limitations</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Developing an user-friendly application to execute the task</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Developing </a:t>
            </a:r>
            <a:r>
              <a:rPr lang="en-IN" dirty="0" err="1" smtClean="0"/>
              <a:t>Inpainting</a:t>
            </a:r>
            <a:r>
              <a:rPr lang="en-IN" dirty="0" smtClean="0"/>
              <a:t> Algorithm for region filling and replacement  </a:t>
            </a:r>
            <a:endParaRPr lang="en-US" dirty="0"/>
          </a:p>
        </p:txBody>
      </p:sp>
    </p:spTree>
    <p:extLst>
      <p:ext uri="{BB962C8B-B14F-4D97-AF65-F5344CB8AC3E}">
        <p14:creationId xmlns:p14="http://schemas.microsoft.com/office/powerpoint/2010/main" val="1167210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CONTENTS</a:t>
            </a:r>
            <a:endParaRPr lang="en-US" dirty="0"/>
          </a:p>
        </p:txBody>
      </p:sp>
      <p:sp>
        <p:nvSpPr>
          <p:cNvPr id="3" name="Content Placeholder 2"/>
          <p:cNvSpPr>
            <a:spLocks noGrp="1"/>
          </p:cNvSpPr>
          <p:nvPr>
            <p:ph idx="1"/>
          </p:nvPr>
        </p:nvSpPr>
        <p:spPr>
          <a:xfrm>
            <a:off x="711591" y="1811558"/>
            <a:ext cx="5647006" cy="4351338"/>
          </a:xfrm>
        </p:spPr>
        <p:txBody>
          <a:bodyPr>
            <a:normAutofit fontScale="92500"/>
          </a:bodyPr>
          <a:lstStyle/>
          <a:p>
            <a:pPr>
              <a:buFont typeface="Wingdings" panose="05000000000000000000" pitchFamily="2" charset="2"/>
              <a:buChar char="q"/>
            </a:pPr>
            <a:r>
              <a:rPr lang="en-IN" sz="3200" dirty="0"/>
              <a:t> </a:t>
            </a:r>
            <a:r>
              <a:rPr lang="en-IN" sz="3200" dirty="0" smtClean="0"/>
              <a:t>Introduction</a:t>
            </a:r>
          </a:p>
          <a:p>
            <a:pPr>
              <a:buFont typeface="Wingdings" panose="05000000000000000000" pitchFamily="2" charset="2"/>
              <a:buChar char="q"/>
            </a:pPr>
            <a:r>
              <a:rPr lang="en-IN" sz="3200" dirty="0"/>
              <a:t> </a:t>
            </a:r>
            <a:r>
              <a:rPr lang="en-IN" sz="3200" dirty="0" smtClean="0"/>
              <a:t>Background and existing  methods</a:t>
            </a:r>
          </a:p>
          <a:p>
            <a:pPr>
              <a:buFont typeface="Wingdings" panose="05000000000000000000" pitchFamily="2" charset="2"/>
              <a:buChar char="q"/>
            </a:pPr>
            <a:r>
              <a:rPr lang="en-IN" sz="3200" dirty="0"/>
              <a:t> </a:t>
            </a:r>
            <a:r>
              <a:rPr lang="en-IN" sz="3200" dirty="0" smtClean="0"/>
              <a:t>Problem Description</a:t>
            </a:r>
          </a:p>
          <a:p>
            <a:pPr>
              <a:buFont typeface="Wingdings" panose="05000000000000000000" pitchFamily="2" charset="2"/>
              <a:buChar char="q"/>
            </a:pPr>
            <a:r>
              <a:rPr lang="en-IN" sz="3200" dirty="0"/>
              <a:t> </a:t>
            </a:r>
            <a:r>
              <a:rPr lang="en-IN" sz="3200" dirty="0" smtClean="0"/>
              <a:t>Tools Used</a:t>
            </a:r>
          </a:p>
          <a:p>
            <a:pPr>
              <a:buFont typeface="Wingdings" panose="05000000000000000000" pitchFamily="2" charset="2"/>
              <a:buChar char="q"/>
            </a:pPr>
            <a:r>
              <a:rPr lang="en-IN" sz="3200" dirty="0"/>
              <a:t> </a:t>
            </a:r>
            <a:r>
              <a:rPr lang="en-IN" sz="3200" dirty="0" smtClean="0"/>
              <a:t>Work Done</a:t>
            </a:r>
          </a:p>
          <a:p>
            <a:pPr>
              <a:buFont typeface="Wingdings" panose="05000000000000000000" pitchFamily="2" charset="2"/>
              <a:buChar char="q"/>
            </a:pPr>
            <a:r>
              <a:rPr lang="en-IN" sz="3200" dirty="0"/>
              <a:t> </a:t>
            </a:r>
            <a:r>
              <a:rPr lang="en-IN" sz="3200" dirty="0" smtClean="0"/>
              <a:t>Frame Conversion Method (FCM)</a:t>
            </a:r>
          </a:p>
          <a:p>
            <a:pPr>
              <a:buFont typeface="Wingdings" panose="05000000000000000000" pitchFamily="2" charset="2"/>
              <a:buChar char="q"/>
            </a:pPr>
            <a:r>
              <a:rPr lang="en-IN" sz="3200" dirty="0"/>
              <a:t> </a:t>
            </a:r>
            <a:r>
              <a:rPr lang="en-IN" sz="3200" dirty="0" smtClean="0"/>
              <a:t>Results of FCM</a:t>
            </a:r>
          </a:p>
          <a:p>
            <a:pPr>
              <a:buFont typeface="Wingdings" panose="05000000000000000000" pitchFamily="2" charset="2"/>
              <a:buChar char="q"/>
            </a:pPr>
            <a:endParaRPr lang="en-IN" sz="3200" dirty="0" smtClean="0"/>
          </a:p>
        </p:txBody>
      </p:sp>
      <p:sp>
        <p:nvSpPr>
          <p:cNvPr id="5" name="Content Placeholder 2"/>
          <p:cNvSpPr txBox="1">
            <a:spLocks/>
          </p:cNvSpPr>
          <p:nvPr/>
        </p:nvSpPr>
        <p:spPr>
          <a:xfrm>
            <a:off x="6358597" y="1811558"/>
            <a:ext cx="5647006"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w Cen MT" panose="020B06020201040206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solidFill>
                <a:latin typeface="Tw Cen MT" panose="020B06020201040206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w Cen MT" panose="020B06020201040206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solidFill>
                <a:latin typeface="Tw Cen MT" panose="020B06020201040206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w Cen MT" panose="020B06020201040206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sz="3200" dirty="0" smtClean="0"/>
              <a:t> Application Developed</a:t>
            </a:r>
          </a:p>
          <a:p>
            <a:pPr>
              <a:buFont typeface="Wingdings" panose="05000000000000000000" pitchFamily="2" charset="2"/>
              <a:buChar char="q"/>
            </a:pPr>
            <a:r>
              <a:rPr lang="en-IN" sz="3200" dirty="0" smtClean="0"/>
              <a:t> Challenges Faced</a:t>
            </a:r>
          </a:p>
          <a:p>
            <a:pPr>
              <a:buFont typeface="Wingdings" panose="05000000000000000000" pitchFamily="2" charset="2"/>
              <a:buChar char="q"/>
            </a:pPr>
            <a:r>
              <a:rPr lang="en-IN" sz="3200" dirty="0" smtClean="0"/>
              <a:t> Can We Do Better?</a:t>
            </a:r>
          </a:p>
          <a:p>
            <a:pPr>
              <a:buFont typeface="Wingdings" panose="05000000000000000000" pitchFamily="2" charset="2"/>
              <a:buChar char="q"/>
            </a:pPr>
            <a:r>
              <a:rPr lang="en-IN" sz="3200" dirty="0" smtClean="0"/>
              <a:t> Exemplar Based </a:t>
            </a:r>
            <a:r>
              <a:rPr lang="en-IN" sz="3200" dirty="0" err="1" smtClean="0"/>
              <a:t>Inpainting</a:t>
            </a:r>
            <a:endParaRPr lang="en-IN" sz="3200" dirty="0" smtClean="0"/>
          </a:p>
          <a:p>
            <a:pPr>
              <a:buFont typeface="Wingdings" panose="05000000000000000000" pitchFamily="2" charset="2"/>
              <a:buChar char="q"/>
            </a:pPr>
            <a:r>
              <a:rPr lang="en-IN" sz="3200" dirty="0"/>
              <a:t> </a:t>
            </a:r>
            <a:r>
              <a:rPr lang="en-IN" sz="3200" dirty="0" err="1" smtClean="0"/>
              <a:t>Inpainting</a:t>
            </a:r>
            <a:r>
              <a:rPr lang="en-IN" sz="3200" dirty="0" smtClean="0"/>
              <a:t> Results and Challenges</a:t>
            </a:r>
          </a:p>
          <a:p>
            <a:pPr>
              <a:buFont typeface="Wingdings" panose="05000000000000000000" pitchFamily="2" charset="2"/>
              <a:buChar char="q"/>
            </a:pPr>
            <a:r>
              <a:rPr lang="en-IN" sz="3200" dirty="0" smtClean="0"/>
              <a:t> Conclusion</a:t>
            </a:r>
          </a:p>
          <a:p>
            <a:pPr>
              <a:buFont typeface="Wingdings" panose="05000000000000000000" pitchFamily="2" charset="2"/>
              <a:buChar char="q"/>
            </a:pPr>
            <a:r>
              <a:rPr lang="en-IN" sz="3200" dirty="0" smtClean="0"/>
              <a:t> Future Work</a:t>
            </a:r>
          </a:p>
          <a:p>
            <a:pPr>
              <a:buFont typeface="Wingdings" panose="05000000000000000000" pitchFamily="2" charset="2"/>
              <a:buChar char="q"/>
            </a:pPr>
            <a:r>
              <a:rPr lang="en-IN" sz="3200" dirty="0"/>
              <a:t> </a:t>
            </a:r>
            <a:r>
              <a:rPr lang="en-IN" sz="3200" dirty="0" smtClean="0"/>
              <a:t>References</a:t>
            </a:r>
          </a:p>
          <a:p>
            <a:pPr>
              <a:buFont typeface="Wingdings" panose="05000000000000000000" pitchFamily="2" charset="2"/>
              <a:buChar char="q"/>
            </a:pPr>
            <a:endParaRPr lang="en-IN" sz="3200" dirty="0"/>
          </a:p>
        </p:txBody>
      </p:sp>
    </p:spTree>
    <p:extLst>
      <p:ext uri="{BB962C8B-B14F-4D97-AF65-F5344CB8AC3E}">
        <p14:creationId xmlns:p14="http://schemas.microsoft.com/office/powerpoint/2010/main" val="8480209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US" dirty="0"/>
          </a:p>
        </p:txBody>
      </p:sp>
      <p:sp>
        <p:nvSpPr>
          <p:cNvPr id="3" name="Content Placeholder 2"/>
          <p:cNvSpPr>
            <a:spLocks noGrp="1"/>
          </p:cNvSpPr>
          <p:nvPr>
            <p:ph idx="1"/>
          </p:nvPr>
        </p:nvSpPr>
        <p:spPr>
          <a:xfrm>
            <a:off x="838201" y="1825625"/>
            <a:ext cx="8038514" cy="4351338"/>
          </a:xfrm>
        </p:spPr>
        <p:txBody>
          <a:bodyPr>
            <a:normAutofit fontScale="85000" lnSpcReduction="20000"/>
          </a:bodyPr>
          <a:lstStyle/>
          <a:p>
            <a:pPr>
              <a:buFont typeface="Wingdings" panose="05000000000000000000" pitchFamily="2" charset="2"/>
              <a:buChar char="q"/>
            </a:pPr>
            <a:r>
              <a:rPr lang="en-IN" dirty="0" smtClean="0"/>
              <a:t> Videos are one of the most popular learning and entertainment media</a:t>
            </a:r>
          </a:p>
          <a:p>
            <a:pPr>
              <a:buFont typeface="Wingdings" panose="05000000000000000000" pitchFamily="2" charset="2"/>
              <a:buChar char="q"/>
            </a:pPr>
            <a:endParaRPr lang="en-IN" dirty="0" smtClean="0"/>
          </a:p>
          <a:p>
            <a:pPr>
              <a:buFont typeface="Wingdings" panose="05000000000000000000" pitchFamily="2" charset="2"/>
              <a:buChar char="q"/>
            </a:pPr>
            <a:r>
              <a:rPr lang="en-IN" dirty="0" smtClean="0"/>
              <a:t> To make a video accessible to a wide range of culturally and linguistically diverse audience, we need subtitles in native language</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But these subtitles are often hardcoded in a video and thus removing them while preserving the quality becomes a necessity</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Apart from subtitles it also becomes necessary to remove watermark, logo and as such from a video</a:t>
            </a: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76715" y="2933908"/>
            <a:ext cx="3094892" cy="2134772"/>
          </a:xfrm>
          <a:prstGeom prst="rect">
            <a:avLst/>
          </a:prstGeom>
          <a:noFill/>
          <a:ln>
            <a:noFill/>
          </a:ln>
        </p:spPr>
      </p:pic>
    </p:spTree>
    <p:extLst>
      <p:ext uri="{BB962C8B-B14F-4D97-AF65-F5344CB8AC3E}">
        <p14:creationId xmlns:p14="http://schemas.microsoft.com/office/powerpoint/2010/main" val="696757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BACKGROUND AND EXISTING METHODS</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IN" dirty="0"/>
              <a:t> </a:t>
            </a:r>
            <a:r>
              <a:rPr lang="en-IN" dirty="0" smtClean="0"/>
              <a:t>Subtitles are of major two types- hardcoded and </a:t>
            </a:r>
            <a:r>
              <a:rPr lang="en-IN" dirty="0" err="1" smtClean="0"/>
              <a:t>softcoded</a:t>
            </a:r>
            <a:r>
              <a:rPr lang="en-IN" dirty="0" smtClean="0"/>
              <a:t> </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The issue of removing hardcoded texts, watermarks, logos and time stamps have been dealt before and some very sophisticated soft wares exist</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The use of machine learning algorithms have been used to extrapolate data</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a:t>
            </a:r>
            <a:r>
              <a:rPr lang="en-IN" dirty="0" err="1" smtClean="0"/>
              <a:t>Inpainting</a:t>
            </a:r>
            <a:r>
              <a:rPr lang="en-IN" dirty="0" smtClean="0"/>
              <a:t> algorithms have also been tried for region filling and replacement </a:t>
            </a:r>
            <a:endParaRPr lang="en-US" dirty="0"/>
          </a:p>
        </p:txBody>
      </p:sp>
    </p:spTree>
    <p:extLst>
      <p:ext uri="{BB962C8B-B14F-4D97-AF65-F5344CB8AC3E}">
        <p14:creationId xmlns:p14="http://schemas.microsoft.com/office/powerpoint/2010/main" val="34057965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DESCRIPTION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Remove hardcoded texts from a video and obtain a clean image with no or minimal information loss</a:t>
            </a:r>
            <a:endParaRPr lang="en-IN" dirty="0"/>
          </a:p>
          <a:p>
            <a:pPr>
              <a:buFont typeface="Wingdings" panose="05000000000000000000" pitchFamily="2" charset="2"/>
              <a:buChar char="q"/>
            </a:pPr>
            <a:r>
              <a:rPr lang="en-IN" dirty="0" smtClean="0"/>
              <a:t> Below is a frame of the video which was the primary target of my project</a:t>
            </a:r>
          </a:p>
          <a:p>
            <a:pPr>
              <a:buFont typeface="Wingdings" panose="05000000000000000000" pitchFamily="2" charset="2"/>
              <a:buChar char="q"/>
            </a:pPr>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5745" y="3451395"/>
            <a:ext cx="4080510" cy="3021965"/>
          </a:xfrm>
          <a:prstGeom prst="rect">
            <a:avLst/>
          </a:prstGeom>
          <a:noFill/>
          <a:ln>
            <a:noFill/>
          </a:ln>
        </p:spPr>
      </p:pic>
    </p:spTree>
    <p:extLst>
      <p:ext uri="{BB962C8B-B14F-4D97-AF65-F5344CB8AC3E}">
        <p14:creationId xmlns:p14="http://schemas.microsoft.com/office/powerpoint/2010/main" val="36386312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TOOLS USED</a:t>
            </a:r>
            <a:endParaRPr lang="en-US" dirty="0"/>
          </a:p>
        </p:txBody>
      </p:sp>
      <p:sp>
        <p:nvSpPr>
          <p:cNvPr id="3" name="Content Placeholder 2"/>
          <p:cNvSpPr>
            <a:spLocks noGrp="1"/>
          </p:cNvSpPr>
          <p:nvPr>
            <p:ph idx="1"/>
          </p:nvPr>
        </p:nvSpPr>
        <p:spPr>
          <a:xfrm>
            <a:off x="838200" y="2506662"/>
            <a:ext cx="10515600" cy="4351338"/>
          </a:xfrm>
        </p:spPr>
        <p:txBody>
          <a:bodyPr/>
          <a:lstStyle/>
          <a:p>
            <a:pPr marL="0" indent="0" algn="just">
              <a:buNone/>
            </a:pPr>
            <a:r>
              <a:rPr lang="en-US" dirty="0"/>
              <a:t>This GUI based is built only using basic image processing techniques using MATLAB. Those who want to use it have to install MATLAB first. I implemented it using MATLAB 2016a. It is also supported in Visual Studio 2017 with the presence of necessary MATLAB libraries.</a:t>
            </a:r>
          </a:p>
        </p:txBody>
      </p:sp>
    </p:spTree>
    <p:extLst>
      <p:ext uri="{BB962C8B-B14F-4D97-AF65-F5344CB8AC3E}">
        <p14:creationId xmlns:p14="http://schemas.microsoft.com/office/powerpoint/2010/main" val="1478602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 DONE</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IN" dirty="0" smtClean="0"/>
              <a:t> We tried a few methods for achieving our tasks based on classic interpolation techniques modified for our use</a:t>
            </a:r>
          </a:p>
          <a:p>
            <a:pPr>
              <a:buFont typeface="Wingdings" panose="05000000000000000000" pitchFamily="2" charset="2"/>
              <a:buChar char="q"/>
            </a:pPr>
            <a:endParaRPr lang="en-IN" dirty="0" smtClean="0"/>
          </a:p>
          <a:p>
            <a:pPr>
              <a:buFont typeface="Wingdings" panose="05000000000000000000" pitchFamily="2" charset="2"/>
              <a:buChar char="q"/>
            </a:pPr>
            <a:r>
              <a:rPr lang="en-IN" dirty="0" smtClean="0"/>
              <a:t> The video was stored frame by frame and we applied frame conversion on it </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Image processing was done on these frames for removal of subtitles </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But the results were sometimes not very satisfactory, so we looked into </a:t>
            </a:r>
            <a:r>
              <a:rPr lang="en-IN" dirty="0" err="1" smtClean="0"/>
              <a:t>Inpainting</a:t>
            </a:r>
            <a:r>
              <a:rPr lang="en-IN" dirty="0" smtClean="0"/>
              <a:t> methods </a:t>
            </a:r>
            <a:endParaRPr lang="en-IN" dirty="0"/>
          </a:p>
        </p:txBody>
      </p:sp>
    </p:spTree>
    <p:extLst>
      <p:ext uri="{BB962C8B-B14F-4D97-AF65-F5344CB8AC3E}">
        <p14:creationId xmlns:p14="http://schemas.microsoft.com/office/powerpoint/2010/main" val="9602863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FRAME CONVERSION METHOD (FCM)</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The video was stored in a 3D matrix XYT, with the frames being along T axis</a:t>
            </a:r>
          </a:p>
          <a:p>
            <a:pPr>
              <a:buFont typeface="Wingdings" panose="05000000000000000000" pitchFamily="2" charset="2"/>
              <a:buChar char="q"/>
            </a:pPr>
            <a:r>
              <a:rPr lang="en-IN" dirty="0"/>
              <a:t> </a:t>
            </a:r>
            <a:r>
              <a:rPr lang="en-IN" dirty="0" smtClean="0"/>
              <a:t>We applied frame conversion to obtain the YT 2D frames from the XYT matrix</a:t>
            </a:r>
          </a:p>
          <a:p>
            <a:pPr>
              <a:buFont typeface="Wingdings" panose="05000000000000000000" pitchFamily="2" charset="2"/>
              <a:buChar char="q"/>
            </a:pPr>
            <a:r>
              <a:rPr lang="en-IN" dirty="0"/>
              <a:t> </a:t>
            </a:r>
            <a:r>
              <a:rPr lang="en-IN" dirty="0" smtClean="0"/>
              <a:t>The subtitles appeared as non-uniform bands of white and black</a:t>
            </a:r>
          </a:p>
          <a:p>
            <a:pPr>
              <a:buFont typeface="Wingdings" panose="05000000000000000000" pitchFamily="2" charset="2"/>
              <a:buChar char="q"/>
            </a:pPr>
            <a:r>
              <a:rPr lang="en-IN" dirty="0"/>
              <a:t> </a:t>
            </a:r>
            <a:r>
              <a:rPr lang="en-IN" dirty="0" smtClean="0"/>
              <a:t>We applied various interpolation algorithms for removing and replacing the bands with information from background</a:t>
            </a:r>
          </a:p>
          <a:p>
            <a:pPr>
              <a:buFont typeface="Wingdings" panose="05000000000000000000" pitchFamily="2" charset="2"/>
              <a:buChar char="q"/>
            </a:pPr>
            <a:r>
              <a:rPr lang="en-IN" dirty="0"/>
              <a:t> </a:t>
            </a:r>
            <a:r>
              <a:rPr lang="en-IN" dirty="0" smtClean="0"/>
              <a:t>The YT frames were taken and we revert back to the XYT matrix to constitute the whole video</a:t>
            </a:r>
            <a:endParaRPr lang="en-US" dirty="0"/>
          </a:p>
        </p:txBody>
      </p:sp>
    </p:spTree>
    <p:extLst>
      <p:ext uri="{BB962C8B-B14F-4D97-AF65-F5344CB8AC3E}">
        <p14:creationId xmlns:p14="http://schemas.microsoft.com/office/powerpoint/2010/main" val="2797577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FRAME CONVERSION METHOD (FCM)</a:t>
            </a:r>
            <a:endParaRPr lang="en-US" dirty="0"/>
          </a:p>
        </p:txBody>
      </p:sp>
      <p:sp>
        <p:nvSpPr>
          <p:cNvPr id="3" name="Content Placeholder 2"/>
          <p:cNvSpPr>
            <a:spLocks noGrp="1"/>
          </p:cNvSpPr>
          <p:nvPr>
            <p:ph idx="1"/>
          </p:nvPr>
        </p:nvSpPr>
        <p:spPr>
          <a:xfrm>
            <a:off x="838200" y="1825625"/>
            <a:ext cx="10515600" cy="4631446"/>
          </a:xfrm>
        </p:spPr>
        <p:txBody>
          <a:bodyPr>
            <a:normAutofit/>
          </a:bodyPr>
          <a:lstStyle/>
          <a:p>
            <a:pPr marL="0" indent="0" algn="ctr">
              <a:buNone/>
            </a:pPr>
            <a:r>
              <a:rPr lang="en-IN" dirty="0" smtClean="0"/>
              <a:t>YT frames before and after applying interpolation algorithms</a:t>
            </a:r>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           The 100</a:t>
            </a:r>
            <a:r>
              <a:rPr lang="en-IN" baseline="30000" dirty="0" smtClean="0"/>
              <a:t>th</a:t>
            </a:r>
            <a:r>
              <a:rPr lang="en-IN" dirty="0" smtClean="0"/>
              <a:t> YT frame                             The 250</a:t>
            </a:r>
            <a:r>
              <a:rPr lang="en-IN" baseline="30000" dirty="0" smtClean="0"/>
              <a:t>th</a:t>
            </a:r>
            <a:r>
              <a:rPr lang="en-IN" dirty="0" smtClean="0"/>
              <a:t> YT frame      </a:t>
            </a:r>
          </a:p>
        </p:txBody>
      </p:sp>
      <p:grpSp>
        <p:nvGrpSpPr>
          <p:cNvPr id="4" name="Group 3"/>
          <p:cNvGrpSpPr/>
          <p:nvPr/>
        </p:nvGrpSpPr>
        <p:grpSpPr>
          <a:xfrm>
            <a:off x="838199" y="2669381"/>
            <a:ext cx="4957689" cy="3078480"/>
            <a:chOff x="0" y="0"/>
            <a:chExt cx="7772400" cy="3829812"/>
          </a:xfrm>
        </p:grpSpPr>
        <p:pic>
          <p:nvPicPr>
            <p:cNvPr id="5" name="Picture 4"/>
            <p:cNvPicPr/>
            <p:nvPr/>
          </p:nvPicPr>
          <p:blipFill>
            <a:blip r:embed="rId2"/>
            <a:stretch>
              <a:fillRect/>
            </a:stretch>
          </p:blipFill>
          <p:spPr>
            <a:xfrm>
              <a:off x="0" y="0"/>
              <a:ext cx="4052316" cy="3829812"/>
            </a:xfrm>
            <a:prstGeom prst="rect">
              <a:avLst/>
            </a:prstGeom>
          </p:spPr>
        </p:pic>
        <p:pic>
          <p:nvPicPr>
            <p:cNvPr id="6" name="Picture 5"/>
            <p:cNvPicPr/>
            <p:nvPr/>
          </p:nvPicPr>
          <p:blipFill>
            <a:blip r:embed="rId3"/>
            <a:stretch>
              <a:fillRect/>
            </a:stretch>
          </p:blipFill>
          <p:spPr>
            <a:xfrm>
              <a:off x="3771900" y="19812"/>
              <a:ext cx="4000500" cy="3781045"/>
            </a:xfrm>
            <a:prstGeom prst="rect">
              <a:avLst/>
            </a:prstGeom>
          </p:spPr>
        </p:pic>
      </p:grpSp>
      <p:grpSp>
        <p:nvGrpSpPr>
          <p:cNvPr id="7" name="Group 6"/>
          <p:cNvGrpSpPr/>
          <p:nvPr/>
        </p:nvGrpSpPr>
        <p:grpSpPr>
          <a:xfrm>
            <a:off x="6316394" y="2669381"/>
            <a:ext cx="5222826" cy="3078480"/>
            <a:chOff x="0" y="0"/>
            <a:chExt cx="7772400" cy="3960876"/>
          </a:xfrm>
        </p:grpSpPr>
        <p:pic>
          <p:nvPicPr>
            <p:cNvPr id="8" name="Picture 7"/>
            <p:cNvPicPr/>
            <p:nvPr/>
          </p:nvPicPr>
          <p:blipFill>
            <a:blip r:embed="rId4"/>
            <a:stretch>
              <a:fillRect/>
            </a:stretch>
          </p:blipFill>
          <p:spPr>
            <a:xfrm>
              <a:off x="0" y="0"/>
              <a:ext cx="4192524" cy="3960876"/>
            </a:xfrm>
            <a:prstGeom prst="rect">
              <a:avLst/>
            </a:prstGeom>
          </p:spPr>
        </p:pic>
        <p:pic>
          <p:nvPicPr>
            <p:cNvPr id="9" name="Picture 8"/>
            <p:cNvPicPr/>
            <p:nvPr/>
          </p:nvPicPr>
          <p:blipFill>
            <a:blip r:embed="rId5"/>
            <a:stretch>
              <a:fillRect/>
            </a:stretch>
          </p:blipFill>
          <p:spPr>
            <a:xfrm>
              <a:off x="3601212" y="0"/>
              <a:ext cx="4171188" cy="3942588"/>
            </a:xfrm>
            <a:prstGeom prst="rect">
              <a:avLst/>
            </a:prstGeom>
          </p:spPr>
        </p:pic>
      </p:grpSp>
    </p:spTree>
    <p:extLst>
      <p:ext uri="{BB962C8B-B14F-4D97-AF65-F5344CB8AC3E}">
        <p14:creationId xmlns:p14="http://schemas.microsoft.com/office/powerpoint/2010/main" val="3952658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RESULTS OF FCM</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838200" y="2478477"/>
            <a:ext cx="5029842" cy="3472155"/>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6303695" y="2478477"/>
            <a:ext cx="5050105" cy="3472155"/>
          </a:xfrm>
          <a:prstGeom prst="rect">
            <a:avLst/>
          </a:prstGeom>
        </p:spPr>
      </p:pic>
      <p:sp>
        <p:nvSpPr>
          <p:cNvPr id="6" name="TextBox 5"/>
          <p:cNvSpPr txBox="1"/>
          <p:nvPr/>
        </p:nvSpPr>
        <p:spPr>
          <a:xfrm>
            <a:off x="4239064" y="1561362"/>
            <a:ext cx="3713871" cy="523220"/>
          </a:xfrm>
          <a:prstGeom prst="rect">
            <a:avLst/>
          </a:prstGeom>
          <a:noFill/>
        </p:spPr>
        <p:txBody>
          <a:bodyPr wrap="square" rtlCol="0">
            <a:spAutoFit/>
          </a:bodyPr>
          <a:lstStyle/>
          <a:p>
            <a:pPr algn="ctr"/>
            <a:r>
              <a:rPr lang="en-IN" sz="2800" dirty="0" smtClean="0">
                <a:solidFill>
                  <a:schemeClr val="bg1"/>
                </a:solidFill>
                <a:latin typeface="Tw Cen MT" panose="020B0602020104020603" pitchFamily="34" charset="0"/>
              </a:rPr>
              <a:t>SUCCESFUL RESULTS</a:t>
            </a:r>
            <a:endParaRPr lang="en-US" sz="2800" dirty="0">
              <a:solidFill>
                <a:schemeClr val="bg1"/>
              </a:solidFill>
              <a:latin typeface="Tw Cen MT" panose="020B0602020104020603" pitchFamily="34" charset="0"/>
            </a:endParaRPr>
          </a:p>
        </p:txBody>
      </p:sp>
    </p:spTree>
    <p:extLst>
      <p:ext uri="{BB962C8B-B14F-4D97-AF65-F5344CB8AC3E}">
        <p14:creationId xmlns:p14="http://schemas.microsoft.com/office/powerpoint/2010/main" val="1568357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 DEVELOPED BASED ON FCM</a:t>
            </a:r>
            <a:endParaRPr lang="en-US" dirty="0"/>
          </a:p>
        </p:txBody>
      </p:sp>
      <p:sp>
        <p:nvSpPr>
          <p:cNvPr id="3" name="Content Placeholder 2"/>
          <p:cNvSpPr>
            <a:spLocks noGrp="1"/>
          </p:cNvSpPr>
          <p:nvPr>
            <p:ph idx="1"/>
          </p:nvPr>
        </p:nvSpPr>
        <p:spPr>
          <a:xfrm>
            <a:off x="838200" y="1825624"/>
            <a:ext cx="10515600" cy="4645514"/>
          </a:xfrm>
        </p:spPr>
        <p:txBody>
          <a:bodyPr>
            <a:normAutofit/>
          </a:bodyPr>
          <a:lstStyle/>
          <a:p>
            <a:pPr marL="0" indent="0" algn="ctr">
              <a:buNone/>
            </a:pPr>
            <a:endParaRPr lang="en-IN" dirty="0"/>
          </a:p>
          <a:p>
            <a:pPr marL="0" indent="0" algn="ctr">
              <a:buNone/>
            </a:pPr>
            <a:endParaRPr lang="en-IN" dirty="0" smtClean="0"/>
          </a:p>
          <a:p>
            <a:pPr marL="0" indent="0" algn="ctr">
              <a:buNone/>
            </a:pPr>
            <a:endParaRPr lang="en-IN" dirty="0"/>
          </a:p>
          <a:p>
            <a:pPr marL="0" indent="0" algn="ctr">
              <a:buNone/>
            </a:pPr>
            <a:endParaRPr lang="en-IN" dirty="0" smtClean="0"/>
          </a:p>
          <a:p>
            <a:pPr marL="0" indent="0" algn="ctr">
              <a:buNone/>
            </a:pPr>
            <a:endParaRPr lang="en-IN" dirty="0"/>
          </a:p>
          <a:p>
            <a:pPr marL="0" indent="0" algn="ctr">
              <a:buNone/>
            </a:pPr>
            <a:endParaRPr lang="en-IN" dirty="0" smtClean="0"/>
          </a:p>
          <a:p>
            <a:pPr marL="0" indent="0" algn="ctr">
              <a:buNone/>
            </a:pPr>
            <a:endParaRPr lang="en-IN" dirty="0"/>
          </a:p>
          <a:p>
            <a:pPr marL="0" indent="0" algn="ctr">
              <a:buNone/>
            </a:pPr>
            <a:endParaRPr lang="en-IN" dirty="0" smtClean="0"/>
          </a:p>
          <a:p>
            <a:pPr marL="0" indent="0" algn="ctr">
              <a:buNone/>
            </a:pPr>
            <a:r>
              <a:rPr lang="en-IN" dirty="0" smtClean="0"/>
              <a:t>Application was built using MATLAB GUI   </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3122367" y="1690688"/>
            <a:ext cx="5947265" cy="4140640"/>
          </a:xfrm>
          <a:prstGeom prst="rect">
            <a:avLst/>
          </a:prstGeom>
        </p:spPr>
      </p:pic>
    </p:spTree>
    <p:extLst>
      <p:ext uri="{BB962C8B-B14F-4D97-AF65-F5344CB8AC3E}">
        <p14:creationId xmlns:p14="http://schemas.microsoft.com/office/powerpoint/2010/main" val="36544566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CHALLENGES FACED</a:t>
            </a:r>
            <a:endParaRPr lang="en-US" dirty="0"/>
          </a:p>
        </p:txBody>
      </p:sp>
      <p:sp>
        <p:nvSpPr>
          <p:cNvPr id="3" name="Content Placeholder 2"/>
          <p:cNvSpPr>
            <a:spLocks noGrp="1"/>
          </p:cNvSpPr>
          <p:nvPr>
            <p:ph idx="1"/>
          </p:nvPr>
        </p:nvSpPr>
        <p:spPr>
          <a:xfrm>
            <a:off x="838201" y="1825625"/>
            <a:ext cx="7124114" cy="4351338"/>
          </a:xfrm>
        </p:spPr>
        <p:txBody>
          <a:bodyPr>
            <a:normAutofit fontScale="92500" lnSpcReduction="10000"/>
          </a:bodyPr>
          <a:lstStyle/>
          <a:p>
            <a:pPr>
              <a:buFont typeface="Wingdings" panose="05000000000000000000" pitchFamily="2" charset="2"/>
              <a:buChar char="q"/>
            </a:pPr>
            <a:r>
              <a:rPr lang="en-IN" dirty="0" smtClean="0"/>
              <a:t> </a:t>
            </a:r>
            <a:r>
              <a:rPr lang="en-US" dirty="0"/>
              <a:t>The first and foremost problem was the non-uniformity of the subtitles. The subtitles were not uniform in either color intensities or </a:t>
            </a:r>
            <a:r>
              <a:rPr lang="en-US" dirty="0" smtClean="0"/>
              <a:t>shape</a:t>
            </a:r>
            <a:endParaRPr lang="en-US" dirty="0"/>
          </a:p>
          <a:p>
            <a:pPr>
              <a:buFont typeface="Wingdings" panose="05000000000000000000" pitchFamily="2" charset="2"/>
              <a:buChar char="q"/>
            </a:pPr>
            <a:r>
              <a:rPr lang="en-IN" dirty="0" smtClean="0"/>
              <a:t> </a:t>
            </a:r>
            <a:r>
              <a:rPr lang="en-US" dirty="0"/>
              <a:t>The bands obtained in the frame conversion method were difficult to identify, analyze and process </a:t>
            </a:r>
            <a:r>
              <a:rPr lang="en-US" dirty="0" smtClean="0"/>
              <a:t>on</a:t>
            </a:r>
          </a:p>
          <a:p>
            <a:pPr>
              <a:buFont typeface="Wingdings" panose="05000000000000000000" pitchFamily="2" charset="2"/>
              <a:buChar char="q"/>
            </a:pPr>
            <a:r>
              <a:rPr lang="en-IN" dirty="0"/>
              <a:t> </a:t>
            </a:r>
            <a:r>
              <a:rPr lang="en-US" dirty="0"/>
              <a:t>Moreover the computation time was also </a:t>
            </a:r>
            <a:r>
              <a:rPr lang="en-US" dirty="0" smtClean="0"/>
              <a:t>huge and hence, </a:t>
            </a:r>
            <a:r>
              <a:rPr lang="en-US" dirty="0"/>
              <a:t>I had to select a part of the video to process </a:t>
            </a:r>
            <a:r>
              <a:rPr lang="en-US" dirty="0" smtClean="0"/>
              <a:t>on</a:t>
            </a:r>
          </a:p>
          <a:p>
            <a:pPr>
              <a:buFont typeface="Wingdings" panose="05000000000000000000" pitchFamily="2" charset="2"/>
              <a:buChar char="q"/>
            </a:pPr>
            <a:r>
              <a:rPr lang="en-IN" dirty="0"/>
              <a:t> </a:t>
            </a:r>
            <a:r>
              <a:rPr lang="en-US" dirty="0"/>
              <a:t>Also the size of the frames was </a:t>
            </a:r>
            <a:r>
              <a:rPr lang="en-US" dirty="0" smtClean="0"/>
              <a:t>large</a:t>
            </a:r>
            <a:r>
              <a:rPr lang="en-US" dirty="0"/>
              <a:t> </a:t>
            </a:r>
            <a:r>
              <a:rPr lang="en-US" dirty="0" smtClean="0"/>
              <a:t>and </a:t>
            </a:r>
            <a:r>
              <a:rPr lang="en-US" dirty="0"/>
              <a:t>for efficient computation, often the processing had to be done on the region which covered the subtitles</a:t>
            </a:r>
            <a:endParaRPr lang="en-US" dirty="0" smtClean="0"/>
          </a:p>
        </p:txBody>
      </p:sp>
      <p:grpSp>
        <p:nvGrpSpPr>
          <p:cNvPr id="4" name="Group 3"/>
          <p:cNvGrpSpPr/>
          <p:nvPr/>
        </p:nvGrpSpPr>
        <p:grpSpPr>
          <a:xfrm>
            <a:off x="7792625" y="2336156"/>
            <a:ext cx="4011296" cy="2111375"/>
            <a:chOff x="0" y="0"/>
            <a:chExt cx="7772400" cy="3951734"/>
          </a:xfrm>
        </p:grpSpPr>
        <p:pic>
          <p:nvPicPr>
            <p:cNvPr id="5" name="Picture 4"/>
            <p:cNvPicPr/>
            <p:nvPr/>
          </p:nvPicPr>
          <p:blipFill>
            <a:blip r:embed="rId2"/>
            <a:stretch>
              <a:fillRect/>
            </a:stretch>
          </p:blipFill>
          <p:spPr>
            <a:xfrm>
              <a:off x="0" y="18289"/>
              <a:ext cx="4163568" cy="3933445"/>
            </a:xfrm>
            <a:prstGeom prst="rect">
              <a:avLst/>
            </a:prstGeom>
          </p:spPr>
        </p:pic>
        <p:pic>
          <p:nvPicPr>
            <p:cNvPr id="6" name="Picture 5"/>
            <p:cNvPicPr/>
            <p:nvPr/>
          </p:nvPicPr>
          <p:blipFill>
            <a:blip r:embed="rId3"/>
            <a:stretch>
              <a:fillRect/>
            </a:stretch>
          </p:blipFill>
          <p:spPr>
            <a:xfrm>
              <a:off x="3611880" y="0"/>
              <a:ext cx="4160520" cy="3933445"/>
            </a:xfrm>
            <a:prstGeom prst="rect">
              <a:avLst/>
            </a:prstGeom>
          </p:spPr>
        </p:pic>
      </p:grpSp>
      <p:sp>
        <p:nvSpPr>
          <p:cNvPr id="7" name="TextBox 6"/>
          <p:cNvSpPr txBox="1"/>
          <p:nvPr/>
        </p:nvSpPr>
        <p:spPr>
          <a:xfrm>
            <a:off x="7962315" y="4463537"/>
            <a:ext cx="3713871" cy="523220"/>
          </a:xfrm>
          <a:prstGeom prst="rect">
            <a:avLst/>
          </a:prstGeom>
          <a:noFill/>
        </p:spPr>
        <p:txBody>
          <a:bodyPr wrap="square" rtlCol="0">
            <a:spAutoFit/>
          </a:bodyPr>
          <a:lstStyle/>
          <a:p>
            <a:pPr algn="ctr"/>
            <a:r>
              <a:rPr lang="en-IN" sz="2800" dirty="0" smtClean="0">
                <a:solidFill>
                  <a:schemeClr val="bg1"/>
                </a:solidFill>
                <a:latin typeface="Tw Cen MT" panose="020B0602020104020603" pitchFamily="34" charset="0"/>
              </a:rPr>
              <a:t>UNSUCCESFUL RESULT</a:t>
            </a:r>
            <a:endParaRPr lang="en-US" sz="2800" dirty="0">
              <a:solidFill>
                <a:schemeClr val="bg1"/>
              </a:solidFill>
              <a:latin typeface="Tw Cen MT" panose="020B0602020104020603" pitchFamily="34" charset="0"/>
            </a:endParaRPr>
          </a:p>
        </p:txBody>
      </p:sp>
    </p:spTree>
    <p:extLst>
      <p:ext uri="{BB962C8B-B14F-4D97-AF65-F5344CB8AC3E}">
        <p14:creationId xmlns:p14="http://schemas.microsoft.com/office/powerpoint/2010/main" val="377285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CAN WE DO BETTER?</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Because of the limitations of FCM, we had to look for other techniques in Image Processing literature</a:t>
            </a:r>
          </a:p>
          <a:p>
            <a:pPr>
              <a:buFont typeface="Wingdings" panose="05000000000000000000" pitchFamily="2" charset="2"/>
              <a:buChar char="q"/>
            </a:pPr>
            <a:r>
              <a:rPr lang="en-IN" dirty="0"/>
              <a:t> </a:t>
            </a:r>
            <a:r>
              <a:rPr lang="en-IN" dirty="0" err="1" smtClean="0"/>
              <a:t>Inpainting</a:t>
            </a:r>
            <a:r>
              <a:rPr lang="en-IN" dirty="0" smtClean="0"/>
              <a:t> methods showed a lot of promise</a:t>
            </a:r>
          </a:p>
          <a:p>
            <a:pPr>
              <a:buFont typeface="Wingdings" panose="05000000000000000000" pitchFamily="2" charset="2"/>
              <a:buChar char="q"/>
            </a:pPr>
            <a:r>
              <a:rPr lang="en-IN" dirty="0"/>
              <a:t> </a:t>
            </a:r>
            <a:r>
              <a:rPr lang="en-IN" dirty="0" smtClean="0"/>
              <a:t>‘</a:t>
            </a:r>
            <a:r>
              <a:rPr lang="en-US" dirty="0" err="1" smtClean="0"/>
              <a:t>Inpainting</a:t>
            </a:r>
            <a:r>
              <a:rPr lang="en-US" dirty="0" smtClean="0"/>
              <a:t>’ refers </a:t>
            </a:r>
            <a:r>
              <a:rPr lang="en-US" dirty="0"/>
              <a:t>to the application of sophisticated </a:t>
            </a:r>
            <a:r>
              <a:rPr lang="en-US" dirty="0" smtClean="0"/>
              <a:t>algorithms to </a:t>
            </a:r>
            <a:r>
              <a:rPr lang="en-US" dirty="0"/>
              <a:t>replace lost or corrupted parts of the image data (mainly small regions or to remove small defects)</a:t>
            </a:r>
            <a:endParaRPr lang="en-IN" dirty="0" smtClean="0"/>
          </a:p>
          <a:p>
            <a:pPr>
              <a:buFont typeface="Wingdings" panose="05000000000000000000" pitchFamily="2" charset="2"/>
              <a:buChar char="q"/>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3139" y="4607510"/>
            <a:ext cx="4203890" cy="1569453"/>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4602211"/>
            <a:ext cx="5098169" cy="1709689"/>
          </a:xfrm>
          <a:prstGeom prst="rect">
            <a:avLst/>
          </a:prstGeom>
        </p:spPr>
      </p:pic>
    </p:spTree>
    <p:extLst>
      <p:ext uri="{BB962C8B-B14F-4D97-AF65-F5344CB8AC3E}">
        <p14:creationId xmlns:p14="http://schemas.microsoft.com/office/powerpoint/2010/main" val="37579268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EXEMPLAR BASED INPAINTING</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IN" dirty="0" smtClean="0"/>
              <a:t> </a:t>
            </a:r>
            <a:r>
              <a:rPr lang="en-US" dirty="0"/>
              <a:t>Exemplar-based </a:t>
            </a:r>
            <a:r>
              <a:rPr lang="en-US" dirty="0" err="1"/>
              <a:t>inpainting</a:t>
            </a:r>
            <a:r>
              <a:rPr lang="en-US" dirty="0"/>
              <a:t> techniques, in general, remove objects by replacing them with a visually plausible </a:t>
            </a:r>
            <a:r>
              <a:rPr lang="en-US" dirty="0" smtClean="0"/>
              <a:t>backgrounds</a:t>
            </a:r>
          </a:p>
          <a:p>
            <a:pPr>
              <a:buFont typeface="Wingdings" panose="05000000000000000000" pitchFamily="2" charset="2"/>
              <a:buChar char="q"/>
            </a:pPr>
            <a:r>
              <a:rPr lang="en-IN" dirty="0"/>
              <a:t> </a:t>
            </a:r>
            <a:r>
              <a:rPr lang="en-US" dirty="0"/>
              <a:t>The core of their algorithm is broken down into two </a:t>
            </a:r>
            <a:r>
              <a:rPr lang="en-US" dirty="0" smtClean="0"/>
              <a:t>parts</a:t>
            </a:r>
          </a:p>
          <a:p>
            <a:pPr>
              <a:buFont typeface="Wingdings" panose="05000000000000000000" pitchFamily="2" charset="2"/>
              <a:buChar char="q"/>
            </a:pPr>
            <a:r>
              <a:rPr lang="en-IN" dirty="0"/>
              <a:t> </a:t>
            </a:r>
            <a:r>
              <a:rPr lang="en-US" dirty="0"/>
              <a:t>The first part fills holes in images by propagating linear structures into the target </a:t>
            </a:r>
            <a:r>
              <a:rPr lang="en-US" dirty="0" smtClean="0"/>
              <a:t>region; </a:t>
            </a:r>
            <a:r>
              <a:rPr lang="en-US" dirty="0"/>
              <a:t>The intuition behind this techniques arises from the “Connectivity Principle” of vision psychology, which states that broken lines tend to be </a:t>
            </a:r>
            <a:r>
              <a:rPr lang="en-US" dirty="0" smtClean="0"/>
              <a:t>connected</a:t>
            </a:r>
          </a:p>
          <a:p>
            <a:pPr>
              <a:buFont typeface="Wingdings" panose="05000000000000000000" pitchFamily="2" charset="2"/>
              <a:buChar char="q"/>
            </a:pPr>
            <a:r>
              <a:rPr lang="en-IN" dirty="0"/>
              <a:t> </a:t>
            </a:r>
            <a:r>
              <a:rPr lang="en-US" dirty="0"/>
              <a:t>The second part addresses composite textures - multiple textures interacting </a:t>
            </a:r>
            <a:r>
              <a:rPr lang="en-US" dirty="0" smtClean="0"/>
              <a:t>spatially</a:t>
            </a:r>
          </a:p>
          <a:p>
            <a:pPr>
              <a:buFont typeface="Wingdings" panose="05000000000000000000" pitchFamily="2" charset="2"/>
              <a:buChar char="q"/>
            </a:pPr>
            <a:r>
              <a:rPr lang="en-IN" dirty="0"/>
              <a:t> </a:t>
            </a:r>
            <a:r>
              <a:rPr lang="en-US" dirty="0"/>
              <a:t>The idea behind this part is to fill in larger areas of an image by repeating the textures that surrounds the target region with some level of stochasticity</a:t>
            </a:r>
            <a:endParaRPr lang="en-US" dirty="0" smtClean="0"/>
          </a:p>
        </p:txBody>
      </p:sp>
    </p:spTree>
    <p:extLst>
      <p:ext uri="{BB962C8B-B14F-4D97-AF65-F5344CB8AC3E}">
        <p14:creationId xmlns:p14="http://schemas.microsoft.com/office/powerpoint/2010/main" val="27107200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INPAINTING RESULTS AND CHALLENGES</a:t>
            </a:r>
            <a:endParaRPr lang="en-US" dirty="0"/>
          </a:p>
        </p:txBody>
      </p:sp>
      <p:sp>
        <p:nvSpPr>
          <p:cNvPr id="3" name="Content Placeholder 2"/>
          <p:cNvSpPr>
            <a:spLocks noGrp="1"/>
          </p:cNvSpPr>
          <p:nvPr>
            <p:ph idx="1"/>
          </p:nvPr>
        </p:nvSpPr>
        <p:spPr>
          <a:xfrm>
            <a:off x="838200" y="1825625"/>
            <a:ext cx="10515600" cy="3013661"/>
          </a:xfrm>
        </p:spPr>
        <p:txBody>
          <a:bodyPr>
            <a:normAutofit lnSpcReduction="10000"/>
          </a:bodyPr>
          <a:lstStyle/>
          <a:p>
            <a:pPr>
              <a:buFont typeface="Wingdings" panose="05000000000000000000" pitchFamily="2" charset="2"/>
              <a:buChar char="q"/>
            </a:pPr>
            <a:r>
              <a:rPr lang="en-IN" dirty="0" smtClean="0"/>
              <a:t> </a:t>
            </a:r>
            <a:r>
              <a:rPr lang="en-US" dirty="0" smtClean="0"/>
              <a:t>The </a:t>
            </a:r>
            <a:r>
              <a:rPr lang="en-US" dirty="0"/>
              <a:t>masks had to be drawn manually for all the objects i.e. the text </a:t>
            </a:r>
            <a:r>
              <a:rPr lang="en-US" dirty="0" smtClean="0"/>
              <a:t>letters so the task was rigorous</a:t>
            </a:r>
          </a:p>
          <a:p>
            <a:pPr>
              <a:buFont typeface="Wingdings" panose="05000000000000000000" pitchFamily="2" charset="2"/>
              <a:buChar char="q"/>
            </a:pPr>
            <a:r>
              <a:rPr lang="en-IN" dirty="0" smtClean="0"/>
              <a:t> </a:t>
            </a:r>
            <a:r>
              <a:rPr lang="en-US" dirty="0"/>
              <a:t>As the subtitles were not uniform, the objects were not properly </a:t>
            </a:r>
            <a:r>
              <a:rPr lang="en-US" dirty="0" smtClean="0"/>
              <a:t>connected, the </a:t>
            </a:r>
            <a:r>
              <a:rPr lang="en-US" dirty="0"/>
              <a:t>results after applying were not </a:t>
            </a:r>
            <a:r>
              <a:rPr lang="en-US" dirty="0" smtClean="0"/>
              <a:t>satisfactory</a:t>
            </a:r>
          </a:p>
          <a:p>
            <a:pPr>
              <a:buFont typeface="Wingdings" panose="05000000000000000000" pitchFamily="2" charset="2"/>
              <a:buChar char="q"/>
            </a:pPr>
            <a:r>
              <a:rPr lang="en-IN" dirty="0"/>
              <a:t> </a:t>
            </a:r>
            <a:r>
              <a:rPr lang="en-US" dirty="0"/>
              <a:t>The </a:t>
            </a:r>
            <a:r>
              <a:rPr lang="en-US" dirty="0" err="1"/>
              <a:t>inpainting</a:t>
            </a:r>
            <a:r>
              <a:rPr lang="en-US" dirty="0"/>
              <a:t> method had to be iterated multiple </a:t>
            </a:r>
            <a:r>
              <a:rPr lang="en-US" dirty="0" smtClean="0"/>
              <a:t>times and applying it on every frame was hugely time consuming as each iteration took an extensive computation time</a:t>
            </a:r>
            <a:endParaRPr lang="en-US" dirty="0"/>
          </a:p>
        </p:txBody>
      </p:sp>
      <p:sp>
        <p:nvSpPr>
          <p:cNvPr id="5" name="Rectangle 4"/>
          <p:cNvSpPr/>
          <p:nvPr/>
        </p:nvSpPr>
        <p:spPr>
          <a:xfrm>
            <a:off x="5980918" y="3800171"/>
            <a:ext cx="38649" cy="199085"/>
          </a:xfrm>
          <a:prstGeom prst="rect">
            <a:avLst/>
          </a:prstGeom>
          <a:ln>
            <a:noFill/>
          </a:ln>
        </p:spPr>
        <p:txBody>
          <a:bodyPr vert="horz" lIns="0" tIns="0" rIns="0" bIns="0" rtlCol="0">
            <a:noAutofit/>
          </a:bodyPr>
          <a:lstStyle/>
          <a:p>
            <a:pPr marL="0" marR="0">
              <a:lnSpc>
                <a:spcPct val="106000"/>
              </a:lnSpc>
              <a:spcBef>
                <a:spcPts val="0"/>
              </a:spcBef>
              <a:spcAft>
                <a:spcPts val="800"/>
              </a:spcAft>
            </a:pPr>
            <a:r>
              <a:rPr lang="en-US" sz="1300">
                <a:effectLst/>
                <a:latin typeface="Calibri" panose="020F0502020204030204" pitchFamily="34" charset="0"/>
                <a:ea typeface="Calibri" panose="020F0502020204030204" pitchFamily="34" charset="0"/>
                <a:cs typeface="Vrinda"/>
              </a:rPr>
              <a:t> </a:t>
            </a:r>
            <a:endParaRPr lang="en-US" sz="1100">
              <a:effectLst/>
              <a:latin typeface="Calibri" panose="020F0502020204030204" pitchFamily="34" charset="0"/>
              <a:ea typeface="Calibri" panose="020F0502020204030204" pitchFamily="34" charset="0"/>
              <a:cs typeface="Vrinda"/>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3810" y="4310357"/>
            <a:ext cx="4422898" cy="2224086"/>
          </a:xfrm>
          <a:prstGeom prst="rect">
            <a:avLst/>
          </a:prstGeom>
        </p:spPr>
      </p:pic>
    </p:spTree>
    <p:extLst>
      <p:ext uri="{BB962C8B-B14F-4D97-AF65-F5344CB8AC3E}">
        <p14:creationId xmlns:p14="http://schemas.microsoft.com/office/powerpoint/2010/main" val="3976140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CONCLUSION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Removal of hardcoded text from a video is necessary and an user-friendly application based on basic image processing techniques must be developed</a:t>
            </a:r>
          </a:p>
          <a:p>
            <a:pPr>
              <a:buFont typeface="Wingdings" panose="05000000000000000000" pitchFamily="2" charset="2"/>
              <a:buChar char="q"/>
            </a:pPr>
            <a:r>
              <a:rPr lang="en-IN" dirty="0"/>
              <a:t> </a:t>
            </a:r>
            <a:r>
              <a:rPr lang="en-IN" dirty="0" smtClean="0"/>
              <a:t>Frame Conversion Methods gave satisfactory results in many cases but was limited by the non-uniformity and computational efficiency</a:t>
            </a:r>
          </a:p>
          <a:p>
            <a:pPr>
              <a:buFont typeface="Wingdings" panose="05000000000000000000" pitchFamily="2" charset="2"/>
              <a:buChar char="q"/>
            </a:pPr>
            <a:r>
              <a:rPr lang="en-IN" dirty="0"/>
              <a:t> </a:t>
            </a:r>
            <a:r>
              <a:rPr lang="en-IN" dirty="0" smtClean="0"/>
              <a:t>Exemplar based </a:t>
            </a:r>
            <a:r>
              <a:rPr lang="en-IN" dirty="0" err="1" smtClean="0"/>
              <a:t>inpainting</a:t>
            </a:r>
            <a:r>
              <a:rPr lang="en-IN" dirty="0" smtClean="0"/>
              <a:t> showed promise but it gave unsatisfactory results due text type and was limited by its high computational complexity</a:t>
            </a:r>
          </a:p>
          <a:p>
            <a:pPr>
              <a:buFont typeface="Wingdings" panose="05000000000000000000" pitchFamily="2" charset="2"/>
              <a:buChar char="q"/>
            </a:pPr>
            <a:r>
              <a:rPr lang="en-IN" dirty="0"/>
              <a:t> </a:t>
            </a:r>
            <a:r>
              <a:rPr lang="en-IN" dirty="0" smtClean="0"/>
              <a:t>We need to explore further techniques and preferably look more into how to make </a:t>
            </a:r>
            <a:r>
              <a:rPr lang="en-IN" dirty="0" err="1" smtClean="0"/>
              <a:t>inpainting</a:t>
            </a:r>
            <a:r>
              <a:rPr lang="en-IN" dirty="0" smtClean="0"/>
              <a:t> a success  </a:t>
            </a:r>
            <a:endParaRPr lang="en-US" dirty="0"/>
          </a:p>
        </p:txBody>
      </p:sp>
    </p:spTree>
    <p:extLst>
      <p:ext uri="{BB962C8B-B14F-4D97-AF65-F5344CB8AC3E}">
        <p14:creationId xmlns:p14="http://schemas.microsoft.com/office/powerpoint/2010/main" val="2315818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FUTURE WORK</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Develop a method for non-static subtitles or text i.e. texts which change from frame to frame in a video</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Look into removing watermarks and logos from a video</a:t>
            </a:r>
          </a:p>
          <a:p>
            <a:pPr>
              <a:buFont typeface="Wingdings" panose="05000000000000000000" pitchFamily="2" charset="2"/>
              <a:buChar char="q"/>
            </a:pPr>
            <a:endParaRPr lang="en-IN" dirty="0" smtClean="0"/>
          </a:p>
          <a:p>
            <a:pPr>
              <a:buFont typeface="Wingdings" panose="05000000000000000000" pitchFamily="2" charset="2"/>
              <a:buChar char="q"/>
            </a:pPr>
            <a:r>
              <a:rPr lang="en-IN" dirty="0"/>
              <a:t> </a:t>
            </a:r>
            <a:r>
              <a:rPr lang="en-IN" dirty="0" smtClean="0"/>
              <a:t>Developing a new </a:t>
            </a:r>
            <a:r>
              <a:rPr lang="en-IN" dirty="0" err="1" smtClean="0"/>
              <a:t>inapainting</a:t>
            </a:r>
            <a:r>
              <a:rPr lang="en-IN" dirty="0" smtClean="0"/>
              <a:t> algorithm specialized around this particular problem which would give satisfactory results and be computationally efficient</a:t>
            </a:r>
            <a:endParaRPr lang="en-US" dirty="0"/>
          </a:p>
        </p:txBody>
      </p:sp>
    </p:spTree>
    <p:extLst>
      <p:ext uri="{BB962C8B-B14F-4D97-AF65-F5344CB8AC3E}">
        <p14:creationId xmlns:p14="http://schemas.microsoft.com/office/powerpoint/2010/main" val="31712941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REFERENCES</a:t>
            </a:r>
            <a:endParaRPr lang="en-US" dirty="0"/>
          </a:p>
        </p:txBody>
      </p:sp>
      <p:sp>
        <p:nvSpPr>
          <p:cNvPr id="3" name="Content Placeholder 2"/>
          <p:cNvSpPr>
            <a:spLocks noGrp="1"/>
          </p:cNvSpPr>
          <p:nvPr>
            <p:ph idx="1"/>
          </p:nvPr>
        </p:nvSpPr>
        <p:spPr>
          <a:xfrm>
            <a:off x="838200" y="1825625"/>
            <a:ext cx="10515600" cy="4490769"/>
          </a:xfrm>
        </p:spPr>
        <p:txBody>
          <a:bodyPr>
            <a:normAutofit fontScale="77500" lnSpcReduction="20000"/>
          </a:bodyPr>
          <a:lstStyle/>
          <a:p>
            <a:pPr lvl="0"/>
            <a:r>
              <a:rPr lang="en-US" u="sng" dirty="0" err="1"/>
              <a:t>Haihong</a:t>
            </a:r>
            <a:r>
              <a:rPr lang="en-US" u="sng" dirty="0"/>
              <a:t> Li, Joanna Xu, Chen Zhu. In Proc </a:t>
            </a:r>
            <a:r>
              <a:rPr lang="en-US" u="sng" dirty="0" err="1"/>
              <a:t>Standford</a:t>
            </a:r>
            <a:r>
              <a:rPr lang="en-US" u="sng" dirty="0"/>
              <a:t> University.  “Object/Defect Removal via Single-image  Super-resolution on NLM-priority based </a:t>
            </a:r>
            <a:r>
              <a:rPr lang="en-US" u="sng" dirty="0" err="1"/>
              <a:t>Inpainting</a:t>
            </a:r>
            <a:r>
              <a:rPr lang="en-US" u="sng" dirty="0"/>
              <a:t> and Sparse </a:t>
            </a:r>
            <a:r>
              <a:rPr lang="en-US" u="sng" dirty="0" err="1"/>
              <a:t>Codin</a:t>
            </a:r>
            <a:r>
              <a:rPr lang="en-US" u="sng" dirty="0"/>
              <a:t>” Reference pages to explore</a:t>
            </a:r>
            <a:endParaRPr lang="en-US" dirty="0"/>
          </a:p>
          <a:p>
            <a:pPr lvl="0"/>
            <a:r>
              <a:rPr lang="en-US" dirty="0"/>
              <a:t>A. </a:t>
            </a:r>
            <a:r>
              <a:rPr lang="en-US" dirty="0" err="1"/>
              <a:t>Criminist</a:t>
            </a:r>
            <a:r>
              <a:rPr lang="en-US" dirty="0"/>
              <a:t>, </a:t>
            </a:r>
            <a:r>
              <a:rPr lang="en-US" dirty="0" err="1"/>
              <a:t>P.Perez</a:t>
            </a:r>
            <a:r>
              <a:rPr lang="en-US" dirty="0"/>
              <a:t>, K. Toyama. Microsoft Research, Cambridge, UK in Proc IEEE TRANSACTIONS ON IMAGE PROCESSING “Region Filling and Object Removal by </a:t>
            </a:r>
            <a:r>
              <a:rPr lang="en-US" dirty="0" err="1"/>
              <a:t>Examplar</a:t>
            </a:r>
            <a:r>
              <a:rPr lang="en-US" dirty="0"/>
              <a:t>-based Image </a:t>
            </a:r>
            <a:r>
              <a:rPr lang="en-US" dirty="0" err="1"/>
              <a:t>Inpainting</a:t>
            </a:r>
            <a:r>
              <a:rPr lang="en-US" dirty="0"/>
              <a:t>” Vol 13, Sep 2004 pp 2-4</a:t>
            </a:r>
          </a:p>
          <a:p>
            <a:pPr lvl="0"/>
            <a:r>
              <a:rPr lang="en-US" dirty="0"/>
              <a:t>R. Gonzalez and R. Woods. Addition-Wesley Publishing Company,1992. “Digital Image Processing” pp 415-416,pp-443-452</a:t>
            </a:r>
          </a:p>
          <a:p>
            <a:pPr lvl="0"/>
            <a:r>
              <a:rPr lang="en-US" dirty="0" err="1"/>
              <a:t>C.K.Chow</a:t>
            </a:r>
            <a:r>
              <a:rPr lang="en-US" dirty="0"/>
              <a:t> and </a:t>
            </a:r>
            <a:r>
              <a:rPr lang="en-US" dirty="0" err="1"/>
              <a:t>T.Kaneko</a:t>
            </a:r>
            <a:r>
              <a:rPr lang="en-US" dirty="0"/>
              <a:t>. “Automatic Boundary detection of the left ventricle from </a:t>
            </a:r>
            <a:r>
              <a:rPr lang="en-US" dirty="0" err="1"/>
              <a:t>Cineangiograms</a:t>
            </a:r>
            <a:r>
              <a:rPr lang="en-US" dirty="0"/>
              <a:t>”,Comp. Biomed. Res (5).1972. pp 388-410</a:t>
            </a:r>
          </a:p>
          <a:p>
            <a:pPr lvl="0"/>
            <a:r>
              <a:rPr lang="en-US" dirty="0" err="1"/>
              <a:t>R.Boyle</a:t>
            </a:r>
            <a:r>
              <a:rPr lang="en-US" dirty="0"/>
              <a:t> and </a:t>
            </a:r>
            <a:r>
              <a:rPr lang="en-US" dirty="0" err="1"/>
              <a:t>R.Thomas</a:t>
            </a:r>
            <a:r>
              <a:rPr lang="en-US" dirty="0"/>
              <a:t>. “Computer vision: a first </a:t>
            </a:r>
            <a:r>
              <a:rPr lang="en-US" dirty="0" err="1"/>
              <a:t>course”Addition</a:t>
            </a:r>
            <a:r>
              <a:rPr lang="en-US" dirty="0"/>
              <a:t>-Blackwell Scientific Publications, 1998, Ch-4</a:t>
            </a:r>
          </a:p>
          <a:p>
            <a:pPr lvl="0"/>
            <a:r>
              <a:rPr lang="en-US" u="sng" dirty="0">
                <a:hlinkClick r:id="rId2"/>
              </a:rPr>
              <a:t>https://ocw.mit.edu./resources/res-18-002-introduction-to-matlab-spring-2008/lecture-notes/</a:t>
            </a:r>
            <a:endParaRPr lang="en-US" dirty="0"/>
          </a:p>
          <a:p>
            <a:pPr lvl="0"/>
            <a:r>
              <a:rPr lang="en-US" dirty="0"/>
              <a:t>MATHWORKERS. “</a:t>
            </a:r>
            <a:r>
              <a:rPr lang="en-US" dirty="0" err="1"/>
              <a:t>Matlab</a:t>
            </a:r>
            <a:r>
              <a:rPr lang="en-US" dirty="0"/>
              <a:t> Image Processing Toolbox” v-2016a, 2017. </a:t>
            </a:r>
          </a:p>
          <a:p>
            <a:endParaRPr lang="en-US" dirty="0"/>
          </a:p>
        </p:txBody>
      </p:sp>
    </p:spTree>
    <p:extLst>
      <p:ext uri="{BB962C8B-B14F-4D97-AF65-F5344CB8AC3E}">
        <p14:creationId xmlns:p14="http://schemas.microsoft.com/office/powerpoint/2010/main" val="1084144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6476" y="5302885"/>
            <a:ext cx="10515600" cy="1325563"/>
          </a:xfrm>
        </p:spPr>
        <p:txBody>
          <a:bodyPr/>
          <a:lstStyle/>
          <a:p>
            <a:r>
              <a:rPr lang="en-IN" dirty="0" smtClean="0"/>
              <a:t>Any Criticisms?</a:t>
            </a:r>
            <a:endParaRPr lang="en-US" dirty="0"/>
          </a:p>
        </p:txBody>
      </p:sp>
      <p:sp>
        <p:nvSpPr>
          <p:cNvPr id="4" name="Title 1"/>
          <p:cNvSpPr txBox="1">
            <a:spLocks/>
          </p:cNvSpPr>
          <p:nvPr/>
        </p:nvSpPr>
        <p:spPr>
          <a:xfrm>
            <a:off x="-2652933" y="30651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Tw Cen MT" panose="020B0602020104020603" pitchFamily="34" charset="0"/>
                <a:ea typeface="+mj-ea"/>
                <a:cs typeface="+mj-cs"/>
              </a:defRPr>
            </a:lvl1pPr>
          </a:lstStyle>
          <a:p>
            <a:r>
              <a:rPr lang="en-IN" dirty="0" smtClean="0"/>
              <a:t>Any Questions?</a:t>
            </a:r>
            <a:endParaRPr lang="en-US" dirty="0"/>
          </a:p>
        </p:txBody>
      </p:sp>
      <p:sp>
        <p:nvSpPr>
          <p:cNvPr id="5" name="Title 1"/>
          <p:cNvSpPr txBox="1">
            <a:spLocks/>
          </p:cNvSpPr>
          <p:nvPr/>
        </p:nvSpPr>
        <p:spPr>
          <a:xfrm>
            <a:off x="751448" y="268395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Tw Cen MT" panose="020B0602020104020603" pitchFamily="34" charset="0"/>
                <a:ea typeface="+mj-ea"/>
                <a:cs typeface="+mj-cs"/>
              </a:defRPr>
            </a:lvl1pPr>
          </a:lstStyle>
          <a:p>
            <a:r>
              <a:rPr lang="en-IN" dirty="0" smtClean="0"/>
              <a:t>THANK YOU FOR YOUR TIME!</a:t>
            </a:r>
            <a:endParaRPr lang="en-US" dirty="0"/>
          </a:p>
        </p:txBody>
      </p:sp>
    </p:spTree>
    <p:extLst>
      <p:ext uri="{BB962C8B-B14F-4D97-AF65-F5344CB8AC3E}">
        <p14:creationId xmlns:p14="http://schemas.microsoft.com/office/powerpoint/2010/main" val="25241694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1240</Words>
  <Application>Microsoft Office PowerPoint</Application>
  <PresentationFormat>Widescreen</PresentationFormat>
  <Paragraphs>135</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BEHATRICE</vt:lpstr>
      <vt:lpstr>Calibri</vt:lpstr>
      <vt:lpstr>Calibri Light</vt:lpstr>
      <vt:lpstr>Segoe Print</vt:lpstr>
      <vt:lpstr>Times New Roman</vt:lpstr>
      <vt:lpstr>Tw Cen MT</vt:lpstr>
      <vt:lpstr>Vrinda</vt:lpstr>
      <vt:lpstr>Wingdings</vt:lpstr>
      <vt:lpstr>Office Theme</vt:lpstr>
      <vt:lpstr>PowerPoint Presentation</vt:lpstr>
      <vt:lpstr>DECLARATION</vt:lpstr>
      <vt:lpstr>OBJECTIVES</vt:lpstr>
      <vt:lpstr>CONTENTS</vt:lpstr>
      <vt:lpstr>INTRODUCTION</vt:lpstr>
      <vt:lpstr>BACKGROUND AND EXISTING METHODS</vt:lpstr>
      <vt:lpstr>PROBLEM DESCRIPTION</vt:lpstr>
      <vt:lpstr>TOOLS USED</vt:lpstr>
      <vt:lpstr>WORK DONE</vt:lpstr>
      <vt:lpstr>FRAME CONVERSION METHOD (FCM)</vt:lpstr>
      <vt:lpstr>FRAME CONVERSION METHOD (FCM)</vt:lpstr>
      <vt:lpstr>RESULTS OF FCM</vt:lpstr>
      <vt:lpstr>APPLICATION DEVELOPED BASED ON FCM</vt:lpstr>
      <vt:lpstr>CHALLENGES FACED</vt:lpstr>
      <vt:lpstr>CAN WE DO BETTER?</vt:lpstr>
      <vt:lpstr>EXEMPLAR BASED INPAINTING</vt:lpstr>
      <vt:lpstr>INPAINTING RESULTS AND CHALLENGES</vt:lpstr>
      <vt:lpstr>CONCLUSION</vt:lpstr>
      <vt:lpstr>FUTURE WORK</vt:lpstr>
      <vt:lpstr>REFERENCES</vt:lpstr>
      <vt:lpstr>Any Criticisms?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Maniratnam Mandal</dc:creator>
  <cp:lastModifiedBy>Maniratnam Mandal</cp:lastModifiedBy>
  <cp:revision>15</cp:revision>
  <dcterms:created xsi:type="dcterms:W3CDTF">2017-11-28T01:08:39Z</dcterms:created>
  <dcterms:modified xsi:type="dcterms:W3CDTF">2017-11-28T02:55:52Z</dcterms:modified>
</cp:coreProperties>
</file>