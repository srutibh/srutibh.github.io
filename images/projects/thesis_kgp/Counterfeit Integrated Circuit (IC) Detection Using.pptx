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dp" ContentType="image/vnd.ms-photo"/>
  <Default Extension="tif" ContentType="image/tiff"/>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843" r:id="rId1"/>
  </p:sldMasterIdLst>
  <p:sldIdLst>
    <p:sldId id="256" r:id="rId2"/>
    <p:sldId id="257" r:id="rId3"/>
    <p:sldId id="259" r:id="rId4"/>
    <p:sldId id="275" r:id="rId5"/>
    <p:sldId id="258" r:id="rId6"/>
    <p:sldId id="267" r:id="rId7"/>
    <p:sldId id="260" r:id="rId8"/>
    <p:sldId id="261" r:id="rId9"/>
    <p:sldId id="268" r:id="rId10"/>
    <p:sldId id="265" r:id="rId11"/>
    <p:sldId id="269" r:id="rId12"/>
    <p:sldId id="262" r:id="rId13"/>
    <p:sldId id="270" r:id="rId14"/>
    <p:sldId id="271" r:id="rId15"/>
    <p:sldId id="272" r:id="rId16"/>
    <p:sldId id="263" r:id="rId17"/>
    <p:sldId id="273" r:id="rId18"/>
    <p:sldId id="264" r:id="rId19"/>
    <p:sldId id="274" r:id="rId2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E07D"/>
    <a:srgbClr val="FCFFD5"/>
    <a:srgbClr val="FFFFFF"/>
    <a:srgbClr val="D5F6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80" d="100"/>
          <a:sy n="80" d="100"/>
        </p:scale>
        <p:origin x="378"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66" name="Picture 2" descr="\\DROBO-FS\QuickDrops\JB\PPTX NG\Droplets\LightingOverlay.png"/>
          <p:cNvPicPr>
            <a:picLocks noChangeAspect="1" noChangeArrowheads="1"/>
          </p:cNvPicPr>
          <p:nvPr/>
        </p:nvPicPr>
        <p:blipFill>
          <a:blip r:embed="rId2">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 xmlns:a14="http://schemas.microsoft.com/office/drawing/2010/main">
                <a:solidFill>
                  <a:srgbClr val="FFFFFF"/>
                </a:solidFill>
              </a14:hiddenFill>
            </a:ext>
          </a:extLst>
        </p:spPr>
      </p:pic>
      <p:grpSp>
        <p:nvGrpSpPr>
          <p:cNvPr id="11" name="Group 10"/>
          <p:cNvGrpSpPr/>
          <p:nvPr/>
        </p:nvGrpSpPr>
        <p:grpSpPr>
          <a:xfrm>
            <a:off x="0" y="0"/>
            <a:ext cx="2305051" cy="6858001"/>
            <a:chOff x="0" y="0"/>
            <a:chExt cx="2305051" cy="6858001"/>
          </a:xfrm>
          <a:gradFill flip="none" rotWithShape="1">
            <a:gsLst>
              <a:gs pos="0">
                <a:schemeClr val="tx2"/>
              </a:gs>
              <a:gs pos="100000">
                <a:schemeClr val="bg2">
                  <a:lumMod val="60000"/>
                  <a:lumOff val="40000"/>
                </a:schemeClr>
              </a:gs>
            </a:gsLst>
            <a:lin ang="5400000" scaled="0"/>
            <a:tileRect/>
          </a:gradFill>
        </p:grpSpPr>
        <p:sp>
          <p:nvSpPr>
            <p:cNvPr id="12" name="Rectangle 5"/>
            <p:cNvSpPr>
              <a:spLocks noChangeArrowheads="1"/>
            </p:cNvSpPr>
            <p:nvPr/>
          </p:nvSpPr>
          <p:spPr bwMode="auto">
            <a:xfrm>
              <a:off x="1209675" y="4763"/>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13" name="Freeform 6"/>
            <p:cNvSpPr>
              <a:spLocks noEditPoints="1"/>
            </p:cNvSpPr>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4" name="Freeform 7"/>
            <p:cNvSpPr>
              <a:spLocks noEditPoints="1"/>
            </p:cNvSpPr>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5" name="Rectangle 8"/>
            <p:cNvSpPr>
              <a:spLocks noChangeArrowheads="1"/>
            </p:cNvSpPr>
            <p:nvPr/>
          </p:nvSpPr>
          <p:spPr bwMode="auto">
            <a:xfrm>
              <a:off x="414338" y="9525"/>
              <a:ext cx="28575" cy="4481513"/>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16" name="Freeform 9"/>
            <p:cNvSpPr>
              <a:spLocks noEditPoints="1"/>
            </p:cNvSpPr>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7" name="Freeform 10"/>
            <p:cNvSpPr/>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8" name="Freeform 11"/>
            <p:cNvSpPr/>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9" name="Freeform 12"/>
            <p:cNvSpPr>
              <a:spLocks noEditPoints="1"/>
            </p:cNvSpPr>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0" name="Freeform 13"/>
            <p:cNvSpPr/>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1" name="Freeform 14"/>
            <p:cNvSpPr/>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2" name="Freeform 15"/>
            <p:cNvSpPr>
              <a:spLocks noEditPoints="1"/>
            </p:cNvSpPr>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3" name="Freeform 16"/>
            <p:cNvSpPr>
              <a:spLocks noEditPoints="1"/>
            </p:cNvSpPr>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4" name="Freeform 17"/>
            <p:cNvSpPr/>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5" name="Freeform 18"/>
            <p:cNvSpPr>
              <a:spLocks noEditPoints="1"/>
            </p:cNvSpPr>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6" name="Freeform 19"/>
            <p:cNvSpPr/>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7" name="Freeform 20"/>
            <p:cNvSpPr>
              <a:spLocks noEditPoints="1"/>
            </p:cNvSpPr>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8" name="Freeform 21"/>
            <p:cNvSpPr>
              <a:spLocks noEditPoints="1"/>
            </p:cNvSpPr>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9" name="Freeform 22"/>
            <p:cNvSpPr/>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0" name="Freeform 23"/>
            <p:cNvSpPr>
              <a:spLocks noEditPoints="1"/>
            </p:cNvSpPr>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1" name="Freeform 24"/>
            <p:cNvSpPr>
              <a:spLocks noEditPoints="1"/>
            </p:cNvSpPr>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2" name="Freeform 25"/>
            <p:cNvSpPr/>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3" name="Freeform 26"/>
            <p:cNvSpPr>
              <a:spLocks noEditPoints="1"/>
            </p:cNvSpPr>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4" name="Freeform 27"/>
            <p:cNvSpPr/>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5" name="Freeform 28"/>
            <p:cNvSpPr>
              <a:spLocks noEditPoints="1"/>
            </p:cNvSpPr>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6" name="Freeform 29"/>
            <p:cNvSpPr/>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7" name="Freeform 30"/>
            <p:cNvSpPr>
              <a:spLocks noEditPoints="1"/>
            </p:cNvSpPr>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8" name="Freeform 31"/>
            <p:cNvSpPr/>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9" name="Freeform 32"/>
            <p:cNvSpPr>
              <a:spLocks noEditPoints="1"/>
            </p:cNvSpPr>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0" name="Rectangle 33"/>
            <p:cNvSpPr>
              <a:spLocks noChangeArrowheads="1"/>
            </p:cNvSpPr>
            <p:nvPr/>
          </p:nvSpPr>
          <p:spPr bwMode="auto">
            <a:xfrm>
              <a:off x="642938" y="6610350"/>
              <a:ext cx="23813" cy="242888"/>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41" name="Freeform 34"/>
            <p:cNvSpPr>
              <a:spLocks noEditPoints="1"/>
            </p:cNvSpPr>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2" name="Freeform 35"/>
            <p:cNvSpPr/>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3" name="Freeform 36"/>
            <p:cNvSpPr/>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4" name="Freeform 37"/>
            <p:cNvSpPr>
              <a:spLocks noEditPoints="1"/>
            </p:cNvSpPr>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5" name="Freeform 38"/>
            <p:cNvSpPr/>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6" name="Freeform 39"/>
            <p:cNvSpPr/>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7" name="Freeform 40"/>
            <p:cNvSpPr>
              <a:spLocks noEditPoints="1"/>
            </p:cNvSpPr>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8" name="Freeform 41"/>
            <p:cNvSpPr/>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9" name="Freeform 42"/>
            <p:cNvSpPr>
              <a:spLocks noEditPoints="1"/>
            </p:cNvSpPr>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0" name="Freeform 43"/>
            <p:cNvSpPr/>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1" name="Freeform 44"/>
            <p:cNvSpPr>
              <a:spLocks noEditPoints="1"/>
            </p:cNvSpPr>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2" name="Rectangle 45"/>
            <p:cNvSpPr>
              <a:spLocks noChangeArrowheads="1"/>
            </p:cNvSpPr>
            <p:nvPr/>
          </p:nvSpPr>
          <p:spPr bwMode="auto">
            <a:xfrm>
              <a:off x="1228725" y="4662488"/>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53" name="Freeform 46"/>
            <p:cNvSpPr/>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4" name="Freeform 47"/>
            <p:cNvSpPr>
              <a:spLocks noEditPoints="1"/>
            </p:cNvSpPr>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5" name="Freeform 48"/>
            <p:cNvSpPr/>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6" name="Freeform 49"/>
            <p:cNvSpPr>
              <a:spLocks noEditPoints="1"/>
            </p:cNvSpPr>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7" name="Freeform 50"/>
            <p:cNvSpPr>
              <a:spLocks noEditPoints="1"/>
            </p:cNvSpPr>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8" name="Freeform 51"/>
            <p:cNvSpPr/>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9" name="Freeform 52"/>
            <p:cNvSpPr/>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0" name="Freeform 53"/>
            <p:cNvSpPr>
              <a:spLocks noEditPoints="1"/>
            </p:cNvSpPr>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1" name="Freeform 54"/>
            <p:cNvSpPr>
              <a:spLocks noEditPoints="1"/>
            </p:cNvSpPr>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2" name="Freeform 55"/>
            <p:cNvSpPr/>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3" name="Freeform 56"/>
            <p:cNvSpPr>
              <a:spLocks noEditPoints="1"/>
            </p:cNvSpPr>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4" name="Freeform 57"/>
            <p:cNvSpPr/>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5" name="Freeform 58"/>
            <p:cNvSpPr>
              <a:spLocks noEditPoints="1"/>
            </p:cNvSpPr>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grpSp>
      <p:sp>
        <p:nvSpPr>
          <p:cNvPr id="2" name="Title 1"/>
          <p:cNvSpPr>
            <a:spLocks noGrp="1"/>
          </p:cNvSpPr>
          <p:nvPr>
            <p:ph type="ctrTitle"/>
          </p:nvPr>
        </p:nvSpPr>
        <p:spPr>
          <a:xfrm>
            <a:off x="1876424" y="1122363"/>
            <a:ext cx="8791575" cy="2387600"/>
          </a:xfrm>
        </p:spPr>
        <p:txBody>
          <a:bodyPr anchor="b">
            <a:normAutofit/>
          </a:bodyPr>
          <a:lstStyle>
            <a:lvl1pPr algn="l">
              <a:defRPr sz="4800"/>
            </a:lvl1pPr>
          </a:lstStyle>
          <a:p>
            <a:r>
              <a:rPr lang="en-US"/>
              <a:t>Click to edit Master title style</a:t>
            </a:r>
            <a:endParaRPr lang="en-US" dirty="0"/>
          </a:p>
        </p:txBody>
      </p:sp>
      <p:sp>
        <p:nvSpPr>
          <p:cNvPr id="3" name="Subtitle 2"/>
          <p:cNvSpPr>
            <a:spLocks noGrp="1"/>
          </p:cNvSpPr>
          <p:nvPr>
            <p:ph type="subTitle" idx="1"/>
          </p:nvPr>
        </p:nvSpPr>
        <p:spPr>
          <a:xfrm>
            <a:off x="1876424" y="3602038"/>
            <a:ext cx="8791575" cy="1655762"/>
          </a:xfrm>
        </p:spPr>
        <p:txBody>
          <a:bodyPr>
            <a:normAutofit/>
          </a:bodyPr>
          <a:lstStyle>
            <a:lvl1pPr marL="0" indent="0" algn="l">
              <a:buNone/>
              <a:defRPr sz="2000" cap="all"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7077511" y="5410201"/>
            <a:ext cx="2743200" cy="365125"/>
          </a:xfrm>
        </p:spPr>
        <p:txBody>
          <a:bodyPr/>
          <a:lstStyle/>
          <a:p>
            <a:fld id="{4AAD347D-5ACD-4C99-B74B-A9C85AD731AF}" type="datetimeFigureOut">
              <a:rPr lang="en-US" smtClean="0"/>
              <a:t>11/26/2017</a:t>
            </a:fld>
            <a:endParaRPr lang="en-US" dirty="0"/>
          </a:p>
        </p:txBody>
      </p:sp>
      <p:sp>
        <p:nvSpPr>
          <p:cNvPr id="5" name="Footer Placeholder 4"/>
          <p:cNvSpPr>
            <a:spLocks noGrp="1"/>
          </p:cNvSpPr>
          <p:nvPr>
            <p:ph type="ftr" sz="quarter" idx="11"/>
          </p:nvPr>
        </p:nvSpPr>
        <p:spPr>
          <a:xfrm>
            <a:off x="1876424" y="5410201"/>
            <a:ext cx="5124886" cy="365125"/>
          </a:xfrm>
        </p:spPr>
        <p:txBody>
          <a:bodyPr/>
          <a:lstStyle/>
          <a:p>
            <a:endParaRPr lang="en-US" dirty="0"/>
          </a:p>
        </p:txBody>
      </p:sp>
      <p:sp>
        <p:nvSpPr>
          <p:cNvPr id="6" name="Slide Number Placeholder 5"/>
          <p:cNvSpPr>
            <a:spLocks noGrp="1"/>
          </p:cNvSpPr>
          <p:nvPr>
            <p:ph type="sldNum" sz="quarter" idx="12"/>
          </p:nvPr>
        </p:nvSpPr>
        <p:spPr>
          <a:xfrm>
            <a:off x="9896911" y="5410199"/>
            <a:ext cx="771089" cy="365125"/>
          </a:xfrm>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17975889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509A250-FF31-4206-8172-F9D3106AACB1}" type="datetimeFigureOut">
              <a:rPr lang="en-US" smtClean="0"/>
              <a:t>11/26/2017</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7514614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41411" y="1419226"/>
            <a:ext cx="9906000" cy="2852737"/>
          </a:xfrm>
        </p:spPr>
        <p:txBody>
          <a:bodyPr anchor="b">
            <a:normAutofit/>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41411" y="4424362"/>
            <a:ext cx="9906000" cy="1374776"/>
          </a:xfrm>
        </p:spPr>
        <p:txBody>
          <a:bodyPr>
            <a:normAutofit/>
          </a:bodyPr>
          <a:lstStyle>
            <a:lvl1pPr marL="0" indent="0">
              <a:buNone/>
              <a:defRPr sz="1800" cap="all" baseline="0">
                <a:solidFill>
                  <a:schemeClr val="tx1">
                    <a:tint val="75000"/>
                  </a:schemeClr>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4509A250-FF31-4206-8172-F9D3106AACB1}" type="datetimeFigureOut">
              <a:rPr lang="en-US" smtClean="0"/>
              <a:t>11/26/2017</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11306751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41410" y="2249486"/>
            <a:ext cx="4878389" cy="3541714"/>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2249486"/>
            <a:ext cx="4875211" cy="3541714"/>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509A250-FF31-4206-8172-F9D3106AACB1}" type="datetimeFigureOut">
              <a:rPr lang="en-US" smtClean="0"/>
              <a:t>11/26/2017</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3851493425"/>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141411" y="619126"/>
            <a:ext cx="9906000" cy="1477961"/>
          </a:xfrm>
        </p:spPr>
        <p:txBody>
          <a:bodyPr/>
          <a:lstStyle/>
          <a:p>
            <a:r>
              <a:rPr lang="en-US"/>
              <a:t>Click to edit Master title style</a:t>
            </a:r>
            <a:endParaRPr lang="en-US" dirty="0"/>
          </a:p>
        </p:txBody>
      </p:sp>
      <p:sp>
        <p:nvSpPr>
          <p:cNvPr id="3" name="Text Placeholder 2"/>
          <p:cNvSpPr>
            <a:spLocks noGrp="1"/>
          </p:cNvSpPr>
          <p:nvPr>
            <p:ph type="body" idx="1"/>
          </p:nvPr>
        </p:nvSpPr>
        <p:spPr>
          <a:xfrm>
            <a:off x="1370019" y="2249486"/>
            <a:ext cx="4649783"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141410" y="3073397"/>
            <a:ext cx="4878391" cy="2717801"/>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0808" y="2249485"/>
            <a:ext cx="4646602"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3073397"/>
            <a:ext cx="4875210" cy="2717801"/>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509A250-FF31-4206-8172-F9D3106AACB1}" type="datetimeFigureOut">
              <a:rPr lang="en-US" smtClean="0"/>
              <a:t>11/26/2017</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4188635871"/>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509A250-FF31-4206-8172-F9D3106AACB1}" type="datetimeFigureOut">
              <a:rPr lang="en-US" smtClean="0"/>
              <a:t>11/26/2017</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136742022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509A250-FF31-4206-8172-F9D3106AACB1}" type="datetimeFigureOut">
              <a:rPr lang="en-US" smtClean="0"/>
              <a:t>11/26/2017</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154126269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6705" y="609601"/>
            <a:ext cx="3856037" cy="1639884"/>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56200" y="592666"/>
            <a:ext cx="5891209" cy="5198534"/>
          </a:xfrm>
        </p:spPr>
        <p:txBody>
          <a:bodyPr anchor="ct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46705" y="2249486"/>
            <a:ext cx="3856037"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4509A250-FF31-4206-8172-F9D3106AACB1}" type="datetimeFigureOut">
              <a:rPr lang="en-US" smtClean="0"/>
              <a:t>11/26/2017</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1550426513"/>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3" y="609600"/>
            <a:ext cx="5934508" cy="1639886"/>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380721" y="609601"/>
            <a:ext cx="3666690" cy="5181599"/>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41410" y="2249486"/>
            <a:ext cx="5934511"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4509A250-FF31-4206-8172-F9D3106AACB1}" type="datetimeFigureOut">
              <a:rPr lang="en-US" smtClean="0"/>
              <a:t>11/26/2017</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29219386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0" y="4304664"/>
            <a:ext cx="9912355" cy="819355"/>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41411" y="606426"/>
            <a:ext cx="9912354" cy="3299778"/>
          </a:xfrm>
          <a:prstGeom prst="round2DiagRect">
            <a:avLst>
              <a:gd name="adj1" fmla="val 4860"/>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3200"/>
            </a:lvl1pPr>
          </a:lstStyle>
          <a:p>
            <a:pPr marL="0" lvl="0" indent="0">
              <a:buNone/>
            </a:pPr>
            <a:r>
              <a:rPr lang="en-US"/>
              <a:t>Click icon to add picture</a:t>
            </a:r>
            <a:endParaRPr lang="en-US" dirty="0"/>
          </a:p>
        </p:txBody>
      </p:sp>
      <p:sp>
        <p:nvSpPr>
          <p:cNvPr id="4" name="Text Placeholder 3"/>
          <p:cNvSpPr>
            <a:spLocks noGrp="1"/>
          </p:cNvSpPr>
          <p:nvPr>
            <p:ph type="body" sz="half" idx="2"/>
          </p:nvPr>
        </p:nvSpPr>
        <p:spPr>
          <a:xfrm>
            <a:off x="1141364" y="5124020"/>
            <a:ext cx="9910859" cy="682472"/>
          </a:xfrm>
        </p:spPr>
        <p:txBody>
          <a:bodyP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4509A250-FF31-4206-8172-F9D3106AACB1}" type="datetimeFigureOut">
              <a:rPr lang="en-US" smtClean="0"/>
              <a:t>11/26/2017</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4052389538"/>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56" y="609600"/>
            <a:ext cx="9905955" cy="3429000"/>
          </a:xfrm>
        </p:spPr>
        <p:txBody>
          <a:bodyPr anchor="ctr">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410" y="4419599"/>
            <a:ext cx="9904459" cy="1371599"/>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4509A250-FF31-4206-8172-F9D3106AACB1}" type="datetimeFigureOut">
              <a:rPr lang="en-US" smtClean="0"/>
              <a:t>11/26/2017</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3993084556"/>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599"/>
            <a:ext cx="9302752" cy="2748429"/>
          </a:xfrm>
        </p:spPr>
        <p:txBody>
          <a:bodyPr anchor="ctr">
            <a:normAutofit/>
          </a:bodyPr>
          <a:lstStyle>
            <a:lvl1pPr>
              <a:defRPr sz="36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365557"/>
            <a:ext cx="875229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4" name="Text Placeholder 3"/>
          <p:cNvSpPr>
            <a:spLocks noGrp="1"/>
          </p:cNvSpPr>
          <p:nvPr>
            <p:ph type="body" sz="half" idx="2"/>
          </p:nvPr>
        </p:nvSpPr>
        <p:spPr>
          <a:xfrm>
            <a:off x="1141411" y="4309919"/>
            <a:ext cx="9906002" cy="1489496"/>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4509A250-FF31-4206-8172-F9D3106AACB1}" type="datetimeFigureOut">
              <a:rPr lang="en-US" smtClean="0"/>
              <a:t>11/26/2017</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smtClean="0"/>
              <a:t>‹#›</a:t>
            </a:fld>
            <a:endParaRPr lang="en-US" dirty="0"/>
          </a:p>
        </p:txBody>
      </p:sp>
      <p:sp>
        <p:nvSpPr>
          <p:cNvPr id="60" name="TextBox 59"/>
          <p:cNvSpPr txBox="1"/>
          <p:nvPr/>
        </p:nvSpPr>
        <p:spPr>
          <a:xfrm>
            <a:off x="903512" y="73239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61" name="TextBox 60"/>
          <p:cNvSpPr txBox="1"/>
          <p:nvPr/>
        </p:nvSpPr>
        <p:spPr>
          <a:xfrm>
            <a:off x="10537370" y="2764972"/>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1486733552"/>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0" y="2134041"/>
            <a:ext cx="9906001" cy="2511835"/>
          </a:xfrm>
        </p:spPr>
        <p:txBody>
          <a:bodyPr anchor="b">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364" y="4657655"/>
            <a:ext cx="9904505" cy="1140644"/>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4509A250-FF31-4206-8172-F9D3106AACB1}" type="datetimeFigureOut">
              <a:rPr lang="en-US" smtClean="0"/>
              <a:t>11/26/2017</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2757156419"/>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1141413" y="609600"/>
            <a:ext cx="9905998" cy="1905000"/>
          </a:xfrm>
        </p:spPr>
        <p:txBody>
          <a:bodyPr/>
          <a:lstStyle/>
          <a:p>
            <a:r>
              <a:rPr lang="en-US"/>
              <a:t>Click to edit Master title style</a:t>
            </a:r>
            <a:endParaRPr lang="en-US" dirty="0"/>
          </a:p>
        </p:txBody>
      </p:sp>
      <p:sp>
        <p:nvSpPr>
          <p:cNvPr id="7" name="Text Placeholder 2"/>
          <p:cNvSpPr>
            <a:spLocks noGrp="1"/>
          </p:cNvSpPr>
          <p:nvPr>
            <p:ph type="body" idx="1"/>
          </p:nvPr>
        </p:nvSpPr>
        <p:spPr>
          <a:xfrm>
            <a:off x="1141410" y="2674463"/>
            <a:ext cx="3196899"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8" name="Text Placeholder 3"/>
          <p:cNvSpPr>
            <a:spLocks noGrp="1"/>
          </p:cNvSpPr>
          <p:nvPr>
            <p:ph type="body" sz="half" idx="15"/>
          </p:nvPr>
        </p:nvSpPr>
        <p:spPr>
          <a:xfrm>
            <a:off x="1127918" y="3360263"/>
            <a:ext cx="3208735"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9" name="Text Placeholder 4"/>
          <p:cNvSpPr>
            <a:spLocks noGrp="1"/>
          </p:cNvSpPr>
          <p:nvPr>
            <p:ph type="body" sz="quarter" idx="3"/>
          </p:nvPr>
        </p:nvSpPr>
        <p:spPr>
          <a:xfrm>
            <a:off x="4514766" y="2677635"/>
            <a:ext cx="3184385"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0" name="Text Placeholder 3"/>
          <p:cNvSpPr>
            <a:spLocks noGrp="1"/>
          </p:cNvSpPr>
          <p:nvPr>
            <p:ph type="body" sz="half" idx="16"/>
          </p:nvPr>
        </p:nvSpPr>
        <p:spPr>
          <a:xfrm>
            <a:off x="4504213" y="3363435"/>
            <a:ext cx="3195830"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11" name="Text Placeholder 4"/>
          <p:cNvSpPr>
            <a:spLocks noGrp="1"/>
          </p:cNvSpPr>
          <p:nvPr>
            <p:ph type="body" sz="quarter" idx="13"/>
          </p:nvPr>
        </p:nvSpPr>
        <p:spPr>
          <a:xfrm>
            <a:off x="7852442" y="2674463"/>
            <a:ext cx="3194968"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2" name="Text Placeholder 3"/>
          <p:cNvSpPr>
            <a:spLocks noGrp="1"/>
          </p:cNvSpPr>
          <p:nvPr>
            <p:ph type="body" sz="half" idx="17"/>
          </p:nvPr>
        </p:nvSpPr>
        <p:spPr>
          <a:xfrm>
            <a:off x="7852442" y="3360263"/>
            <a:ext cx="3194968"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3" name="Date Placeholder 2"/>
          <p:cNvSpPr>
            <a:spLocks noGrp="1"/>
          </p:cNvSpPr>
          <p:nvPr>
            <p:ph type="dt" sz="half" idx="10"/>
          </p:nvPr>
        </p:nvSpPr>
        <p:spPr/>
        <p:txBody>
          <a:bodyPr/>
          <a:lstStyle/>
          <a:p>
            <a:fld id="{4509A250-FF31-4206-8172-F9D3106AACB1}" type="datetimeFigureOut">
              <a:rPr lang="en-US" smtClean="0"/>
              <a:t>11/26/2017</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3993718261"/>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1141411" y="609600"/>
            <a:ext cx="9905999" cy="190500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1141413" y="4404596"/>
            <a:ext cx="319524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0" name="Picture Placeholder 2"/>
          <p:cNvSpPr>
            <a:spLocks noGrp="1" noChangeAspect="1"/>
          </p:cNvSpPr>
          <p:nvPr>
            <p:ph type="pic" idx="15"/>
          </p:nvPr>
        </p:nvSpPr>
        <p:spPr>
          <a:xfrm>
            <a:off x="1141413" y="2666998"/>
            <a:ext cx="31952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1" name="Text Placeholder 3"/>
          <p:cNvSpPr>
            <a:spLocks noGrp="1"/>
          </p:cNvSpPr>
          <p:nvPr>
            <p:ph type="body" sz="half" idx="18"/>
          </p:nvPr>
        </p:nvSpPr>
        <p:spPr>
          <a:xfrm>
            <a:off x="1141413" y="4980858"/>
            <a:ext cx="3195240" cy="81784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22" name="Text Placeholder 4"/>
          <p:cNvSpPr>
            <a:spLocks noGrp="1"/>
          </p:cNvSpPr>
          <p:nvPr>
            <p:ph type="body" sz="quarter" idx="3"/>
          </p:nvPr>
        </p:nvSpPr>
        <p:spPr>
          <a:xfrm>
            <a:off x="4489053" y="4404596"/>
            <a:ext cx="320040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3" name="Picture Placeholder 2"/>
          <p:cNvSpPr>
            <a:spLocks noGrp="1" noChangeAspect="1"/>
          </p:cNvSpPr>
          <p:nvPr>
            <p:ph type="pic" idx="21"/>
          </p:nvPr>
        </p:nvSpPr>
        <p:spPr>
          <a:xfrm>
            <a:off x="4489053" y="2666998"/>
            <a:ext cx="31989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4" name="Text Placeholder 3"/>
          <p:cNvSpPr>
            <a:spLocks noGrp="1"/>
          </p:cNvSpPr>
          <p:nvPr>
            <p:ph type="body" sz="half" idx="19"/>
          </p:nvPr>
        </p:nvSpPr>
        <p:spPr>
          <a:xfrm>
            <a:off x="4487593" y="4980857"/>
            <a:ext cx="3200400" cy="81034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25" name="Text Placeholder 4"/>
          <p:cNvSpPr>
            <a:spLocks noGrp="1"/>
          </p:cNvSpPr>
          <p:nvPr>
            <p:ph type="body" sz="quarter" idx="13"/>
          </p:nvPr>
        </p:nvSpPr>
        <p:spPr>
          <a:xfrm>
            <a:off x="7852567" y="4404595"/>
            <a:ext cx="3190741"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6" name="Picture Placeholder 2"/>
          <p:cNvSpPr>
            <a:spLocks noGrp="1" noChangeAspect="1"/>
          </p:cNvSpPr>
          <p:nvPr>
            <p:ph type="pic" idx="22"/>
          </p:nvPr>
        </p:nvSpPr>
        <p:spPr>
          <a:xfrm>
            <a:off x="7852442" y="2666998"/>
            <a:ext cx="3194969"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7" name="Text Placeholder 3"/>
          <p:cNvSpPr>
            <a:spLocks noGrp="1"/>
          </p:cNvSpPr>
          <p:nvPr>
            <p:ph type="body" sz="half" idx="20"/>
          </p:nvPr>
        </p:nvSpPr>
        <p:spPr>
          <a:xfrm>
            <a:off x="7852442" y="4980854"/>
            <a:ext cx="3194968" cy="81034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3" name="Date Placeholder 2"/>
          <p:cNvSpPr>
            <a:spLocks noGrp="1"/>
          </p:cNvSpPr>
          <p:nvPr>
            <p:ph type="dt" sz="half" idx="10"/>
          </p:nvPr>
        </p:nvSpPr>
        <p:spPr/>
        <p:txBody>
          <a:bodyPr/>
          <a:lstStyle/>
          <a:p>
            <a:fld id="{4509A250-FF31-4206-8172-F9D3106AACB1}" type="datetimeFigureOut">
              <a:rPr lang="en-US" smtClean="0"/>
              <a:t>11/26/2017</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3959073906"/>
      </p:ext>
    </p:extLst>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509A250-FF31-4206-8172-F9D3106AACB1}" type="datetimeFigureOut">
              <a:rPr lang="en-US" smtClean="0"/>
              <a:t>11/26/2017</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84072129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042400" y="609599"/>
            <a:ext cx="2005011"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41410" y="609599"/>
            <a:ext cx="7748590" cy="5181601"/>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509A250-FF31-4206-8172-F9D3106AACB1}" type="datetimeFigureOut">
              <a:rPr lang="en-US" smtClean="0"/>
              <a:t>11/26/2017</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32285827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2" descr="\\DROBO-FS\QuickDrops\JB\PPTX NG\Droplets\LightingOverlay.png"/>
          <p:cNvPicPr>
            <a:picLocks noChangeAspect="1" noChangeArrowheads="1"/>
          </p:cNvPicPr>
          <p:nvPr/>
        </p:nvPicPr>
        <p:blipFill>
          <a:blip r:embed="rId19">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 xmlns:a14="http://schemas.microsoft.com/office/drawing/2010/main">
                <a:solidFill>
                  <a:srgbClr val="FFFFFF"/>
                </a:solidFill>
              </a14:hiddenFill>
            </a:ext>
          </a:extLst>
        </p:spPr>
      </p:pic>
      <p:grpSp>
        <p:nvGrpSpPr>
          <p:cNvPr id="8" name="Group 7"/>
          <p:cNvGrpSpPr/>
          <p:nvPr/>
        </p:nvGrpSpPr>
        <p:grpSpPr>
          <a:xfrm>
            <a:off x="-14288" y="0"/>
            <a:ext cx="12053888" cy="6858001"/>
            <a:chOff x="-14288" y="0"/>
            <a:chExt cx="12053888" cy="6858001"/>
          </a:xfrm>
        </p:grpSpPr>
        <p:grpSp>
          <p:nvGrpSpPr>
            <p:cNvPr id="9" name="Group 8"/>
            <p:cNvGrpSpPr/>
            <p:nvPr/>
          </p:nvGrpSpPr>
          <p:grpSpPr>
            <a:xfrm>
              <a:off x="-14288" y="0"/>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21" name="Rectangle 5"/>
              <p:cNvSpPr>
                <a:spLocks noChangeArrowheads="1"/>
              </p:cNvSpPr>
              <p:nvPr/>
            </p:nvSpPr>
            <p:spPr bwMode="auto">
              <a:xfrm>
                <a:off x="114300" y="4763"/>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22" name="Freeform 6"/>
              <p:cNvSpPr>
                <a:spLocks noEditPoints="1"/>
              </p:cNvSpPr>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3" name="Freeform 7"/>
              <p:cNvSpPr>
                <a:spLocks noEditPoints="1"/>
              </p:cNvSpPr>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4" name="Freeform 8"/>
              <p:cNvSpPr/>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5" name="Freeform 9"/>
              <p:cNvSpPr>
                <a:spLocks noEditPoints="1"/>
              </p:cNvSpPr>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6" name="Freeform 10"/>
              <p:cNvSpPr/>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7" name="Freeform 11"/>
              <p:cNvSpPr/>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8" name="Freeform 12"/>
              <p:cNvSpPr>
                <a:spLocks noEditPoints="1"/>
              </p:cNvSpPr>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9" name="Freeform 13"/>
              <p:cNvSpPr>
                <a:spLocks noEditPoints="1"/>
              </p:cNvSpPr>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0" name="Freeform 14"/>
              <p:cNvSpPr/>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1" name="Freeform 15"/>
              <p:cNvSpPr>
                <a:spLocks noEditPoints="1"/>
              </p:cNvSpPr>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2" name="Line 16"/>
              <p:cNvSpPr>
                <a:spLocks noChangeShapeType="1"/>
              </p:cNvSpPr>
              <p:nvPr/>
            </p:nvSpPr>
            <p:spPr bwMode="auto">
              <a:xfrm>
                <a:off x="-4763" y="9525"/>
                <a:ext cx="0" cy="0"/>
              </a:xfrm>
              <a:prstGeom prst="line">
                <a:avLst/>
              </a:prstGeom>
              <a:grpFill/>
              <a:ln w="15" cap="flat">
                <a:solidFill>
                  <a:srgbClr val="FFFFFF"/>
                </a:solidFill>
                <a:prstDash val="solid"/>
                <a:miter lim="800000"/>
                <a:headEnd/>
                <a:tailEnd/>
              </a:ln>
            </p:spPr>
          </p:sp>
          <p:sp>
            <p:nvSpPr>
              <p:cNvPr id="33" name="Freeform 17"/>
              <p:cNvSpPr/>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4" name="Freeform 18"/>
              <p:cNvSpPr/>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5" name="Freeform 19"/>
              <p:cNvSpPr/>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6" name="Freeform 20"/>
              <p:cNvSpPr>
                <a:spLocks noEditPoints="1"/>
              </p:cNvSpPr>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7" name="Rectangle 21"/>
              <p:cNvSpPr>
                <a:spLocks noChangeArrowheads="1"/>
              </p:cNvSpPr>
              <p:nvPr/>
            </p:nvSpPr>
            <p:spPr bwMode="auto">
              <a:xfrm>
                <a:off x="133350" y="4662488"/>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38" name="Freeform 22"/>
              <p:cNvSpPr/>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9" name="Freeform 23"/>
              <p:cNvSpPr>
                <a:spLocks noEditPoints="1"/>
              </p:cNvSpPr>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0" name="Freeform 24"/>
              <p:cNvSpPr/>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1" name="Freeform 25"/>
              <p:cNvSpPr>
                <a:spLocks noEditPoints="1"/>
              </p:cNvSpPr>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2" name="Freeform 26"/>
              <p:cNvSpPr/>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3" name="Freeform 27"/>
              <p:cNvSpPr/>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4" name="Freeform 28"/>
              <p:cNvSpPr>
                <a:spLocks noEditPoints="1"/>
              </p:cNvSpPr>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5" name="Freeform 29"/>
              <p:cNvSpPr>
                <a:spLocks noEditPoints="1"/>
              </p:cNvSpPr>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6" name="Freeform 30"/>
              <p:cNvSpPr/>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7" name="Freeform 31"/>
              <p:cNvSpPr>
                <a:spLocks noEditPoints="1"/>
              </p:cNvSpPr>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grpSp>
        <p:grpSp>
          <p:nvGrpSpPr>
            <p:cNvPr id="10" name="Group 9"/>
            <p:cNvGrpSpPr/>
            <p:nvPr/>
          </p:nvGrpSpPr>
          <p:grpSpPr>
            <a:xfrm>
              <a:off x="11364912" y="0"/>
              <a:ext cx="674688" cy="6848476"/>
              <a:chOff x="11364912" y="0"/>
              <a:chExt cx="674688" cy="6848476"/>
            </a:xfrm>
            <a:gradFill flip="none" rotWithShape="1">
              <a:gsLst>
                <a:gs pos="0">
                  <a:schemeClr val="tx2">
                    <a:alpha val="80000"/>
                  </a:schemeClr>
                </a:gs>
                <a:gs pos="100000">
                  <a:schemeClr val="bg2">
                    <a:lumMod val="60000"/>
                    <a:lumOff val="40000"/>
                    <a:alpha val="60000"/>
                  </a:schemeClr>
                </a:gs>
              </a:gsLst>
              <a:lin ang="5400000" scaled="0"/>
              <a:tileRect/>
            </a:gradFill>
          </p:grpSpPr>
          <p:sp>
            <p:nvSpPr>
              <p:cNvPr id="11" name="Freeform 32"/>
              <p:cNvSpPr/>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2" name="Freeform 33"/>
              <p:cNvSpPr>
                <a:spLocks noEditPoints="1"/>
              </p:cNvSpPr>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3" name="Freeform 34"/>
              <p:cNvSpPr>
                <a:spLocks noEditPoints="1"/>
              </p:cNvSpPr>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4" name="Freeform 35"/>
              <p:cNvSpPr/>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5" name="Freeform 36"/>
              <p:cNvSpPr>
                <a:spLocks noEditPoints="1"/>
              </p:cNvSpPr>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6" name="Freeform 37"/>
              <p:cNvSpPr/>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7" name="Freeform 38"/>
              <p:cNvSpPr>
                <a:spLocks noEditPoints="1"/>
              </p:cNvSpPr>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8" name="Freeform 39"/>
              <p:cNvSpPr/>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9" name="Freeform 40"/>
              <p:cNvSpPr>
                <a:spLocks noEditPoints="1"/>
              </p:cNvSpPr>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0" name="Rectangle 41"/>
              <p:cNvSpPr>
                <a:spLocks noChangeArrowheads="1"/>
              </p:cNvSpPr>
              <p:nvPr/>
            </p:nvSpPr>
            <p:spPr bwMode="auto">
              <a:xfrm>
                <a:off x="11939587" y="6596063"/>
                <a:ext cx="23813" cy="252413"/>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grpSp>
      </p:grpSp>
      <p:sp>
        <p:nvSpPr>
          <p:cNvPr id="2" name="Title Placeholder 1"/>
          <p:cNvSpPr>
            <a:spLocks noGrp="1"/>
          </p:cNvSpPr>
          <p:nvPr>
            <p:ph type="title"/>
          </p:nvPr>
        </p:nvSpPr>
        <p:spPr>
          <a:xfrm>
            <a:off x="1141413" y="618518"/>
            <a:ext cx="9905998" cy="1478570"/>
          </a:xfrm>
          <a:prstGeom prst="rect">
            <a:avLst/>
          </a:prstGeom>
        </p:spPr>
        <p:txBody>
          <a:bodyPr vert="horz" lIns="91440" tIns="45720" rIns="91440" bIns="45720" rtlCol="0" anchor="ctr">
            <a:normAutofit/>
          </a:bodyPr>
          <a:lstStyle/>
          <a:p>
            <a:endParaRPr lang="en-US" dirty="0"/>
          </a:p>
        </p:txBody>
      </p:sp>
      <p:sp>
        <p:nvSpPr>
          <p:cNvPr id="3" name="Text Placeholder 2"/>
          <p:cNvSpPr>
            <a:spLocks noGrp="1"/>
          </p:cNvSpPr>
          <p:nvPr>
            <p:ph type="body" idx="1"/>
          </p:nvPr>
        </p:nvSpPr>
        <p:spPr>
          <a:xfrm>
            <a:off x="1141412" y="2249487"/>
            <a:ext cx="9905999" cy="3541714"/>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456921" y="5883276"/>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4509A250-FF31-4206-8172-F9D3106AACB1}" type="datetimeFigureOut">
              <a:rPr lang="en-US" smtClean="0"/>
              <a:t>11/26/2017</a:t>
            </a:fld>
            <a:endParaRPr lang="en-US" dirty="0"/>
          </a:p>
        </p:txBody>
      </p:sp>
      <p:sp>
        <p:nvSpPr>
          <p:cNvPr id="5" name="Footer Placeholder 4"/>
          <p:cNvSpPr>
            <a:spLocks noGrp="1"/>
          </p:cNvSpPr>
          <p:nvPr>
            <p:ph type="ftr" sz="quarter" idx="3"/>
          </p:nvPr>
        </p:nvSpPr>
        <p:spPr>
          <a:xfrm>
            <a:off x="1141411" y="5883275"/>
            <a:ext cx="6239309" cy="365125"/>
          </a:xfrm>
          <a:prstGeom prst="rect">
            <a:avLst/>
          </a:prstGeom>
        </p:spPr>
        <p:txBody>
          <a:bodyPr vert="horz" lIns="91440" tIns="45720" rIns="91440" bIns="45720" rtlCol="0" anchor="ctr"/>
          <a:lstStyle>
            <a:lvl1pPr algn="l">
              <a:defRPr sz="1050" cap="all" baseline="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10276321" y="5883274"/>
            <a:ext cx="771089"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D57F1E4F-1CFF-5643-939E-02111984F565}" type="slidenum">
              <a:rPr lang="en-US" smtClean="0"/>
              <a:t>‹#›</a:t>
            </a:fld>
            <a:endParaRPr lang="en-US" dirty="0"/>
          </a:p>
        </p:txBody>
      </p:sp>
    </p:spTree>
    <p:extLst>
      <p:ext uri="{BB962C8B-B14F-4D97-AF65-F5344CB8AC3E}">
        <p14:creationId xmlns:p14="http://schemas.microsoft.com/office/powerpoint/2010/main" val="3684515130"/>
      </p:ext>
    </p:extLst>
  </p:cSld>
  <p:clrMap bg1="dk1" tx1="lt1" bg2="dk2" tx2="lt2" accent1="accent1" accent2="accent2" accent3="accent3" accent4="accent4" accent5="accent5" accent6="accent6" hlink="hlink" folHlink="folHlink"/>
  <p:sldLayoutIdLst>
    <p:sldLayoutId id="2147483844" r:id="rId1"/>
    <p:sldLayoutId id="2147483845" r:id="rId2"/>
    <p:sldLayoutId id="2147483846" r:id="rId3"/>
    <p:sldLayoutId id="2147483847" r:id="rId4"/>
    <p:sldLayoutId id="2147483848" r:id="rId5"/>
    <p:sldLayoutId id="2147483849" r:id="rId6"/>
    <p:sldLayoutId id="2147483850" r:id="rId7"/>
    <p:sldLayoutId id="2147483851" r:id="rId8"/>
    <p:sldLayoutId id="2147483852" r:id="rId9"/>
    <p:sldLayoutId id="2147483853" r:id="rId10"/>
    <p:sldLayoutId id="2147483854" r:id="rId11"/>
    <p:sldLayoutId id="2147483855" r:id="rId12"/>
    <p:sldLayoutId id="2147483856" r:id="rId13"/>
    <p:sldLayoutId id="2147483857" r:id="rId14"/>
    <p:sldLayoutId id="2147483858" r:id="rId15"/>
    <p:sldLayoutId id="2147483859" r:id="rId16"/>
    <p:sldLayoutId id="2147483860" r:id="rId17"/>
  </p:sldLayoutIdLst>
  <p:hf sldNum="0" hdr="0" ftr="0" dt="0"/>
  <p:txStyles>
    <p:title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8" Type="http://schemas.openxmlformats.org/officeDocument/2006/relationships/image" Target="../media/image14.JPG"/><Relationship Id="rId3" Type="http://schemas.openxmlformats.org/officeDocument/2006/relationships/image" Target="../media/image9.JPG"/><Relationship Id="rId7" Type="http://schemas.openxmlformats.org/officeDocument/2006/relationships/image" Target="../media/image13.tif"/><Relationship Id="rId2" Type="http://schemas.openxmlformats.org/officeDocument/2006/relationships/image" Target="../media/image8.JPG"/><Relationship Id="rId1" Type="http://schemas.openxmlformats.org/officeDocument/2006/relationships/slideLayout" Target="../slideLayouts/slideLayout2.xml"/><Relationship Id="rId6" Type="http://schemas.openxmlformats.org/officeDocument/2006/relationships/image" Target="../media/image12.tif"/><Relationship Id="rId5" Type="http://schemas.openxmlformats.org/officeDocument/2006/relationships/image" Target="../media/image11.JPG"/><Relationship Id="rId4" Type="http://schemas.openxmlformats.org/officeDocument/2006/relationships/image" Target="../media/image10.JPG"/><Relationship Id="rId9" Type="http://schemas.openxmlformats.org/officeDocument/2006/relationships/image" Target="../media/image15.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image" Target="../media/image16.JPG"/><Relationship Id="rId1" Type="http://schemas.openxmlformats.org/officeDocument/2006/relationships/slideLayout" Target="../slideLayouts/slideLayout5.xml"/><Relationship Id="rId5" Type="http://schemas.openxmlformats.org/officeDocument/2006/relationships/image" Target="../media/image19.jpg"/><Relationship Id="rId4" Type="http://schemas.openxmlformats.org/officeDocument/2006/relationships/image" Target="../media/image18.jpg"/></Relationships>
</file>

<file path=ppt/slides/_rels/slide11.xml.rels><?xml version="1.0" encoding="UTF-8" standalone="yes"?>
<Relationships xmlns="http://schemas.openxmlformats.org/package/2006/relationships"><Relationship Id="rId3" Type="http://schemas.openxmlformats.org/officeDocument/2006/relationships/image" Target="../media/image21.JPG"/><Relationship Id="rId2" Type="http://schemas.openxmlformats.org/officeDocument/2006/relationships/image" Target="../media/image20.JP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3.JPG"/><Relationship Id="rId2" Type="http://schemas.openxmlformats.org/officeDocument/2006/relationships/image" Target="../media/image22.JPG"/><Relationship Id="rId1" Type="http://schemas.openxmlformats.org/officeDocument/2006/relationships/slideLayout" Target="../slideLayouts/slideLayout2.xml"/><Relationship Id="rId4" Type="http://schemas.openxmlformats.org/officeDocument/2006/relationships/image" Target="../media/image24.JPG"/></Relationships>
</file>

<file path=ppt/slides/_rels/slide14.xml.rels><?xml version="1.0" encoding="UTF-8" standalone="yes"?>
<Relationships xmlns="http://schemas.openxmlformats.org/package/2006/relationships"><Relationship Id="rId2" Type="http://schemas.openxmlformats.org/officeDocument/2006/relationships/image" Target="../media/image25.JP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xmlns="" id="{A9AF916E-823C-4FE6-9790-C5B3C0475D6F}"/>
              </a:ext>
            </a:extLst>
          </p:cNvPr>
          <p:cNvPicPr>
            <a:picLocks noChangeAspect="1"/>
          </p:cNvPicPr>
          <p:nvPr/>
        </p:nvPicPr>
        <p:blipFill>
          <a:blip r:embed="rId2">
            <a:extLst>
              <a:ext uri="{BEBA8EAE-BF5A-486C-A8C5-ECC9F3942E4B}">
                <a14:imgProps xmlns:a14="http://schemas.microsoft.com/office/drawing/2010/main">
                  <a14:imgLayer r:embed="rId3">
                    <a14:imgEffect>
                      <a14:sharpenSoften amount="-12000"/>
                    </a14:imgEffect>
                  </a14:imgLayer>
                </a14:imgProps>
              </a:ext>
            </a:extLst>
          </a:blip>
          <a:stretch>
            <a:fillRect/>
          </a:stretch>
        </p:blipFill>
        <p:spPr>
          <a:xfrm>
            <a:off x="5953" y="0"/>
            <a:ext cx="12180094" cy="6858000"/>
          </a:xfrm>
          <a:prstGeom prst="rect">
            <a:avLst/>
          </a:prstGeom>
          <a:gradFill>
            <a:gsLst>
              <a:gs pos="0">
                <a:schemeClr val="accent2">
                  <a:lumMod val="89000"/>
                </a:schemeClr>
              </a:gs>
              <a:gs pos="99000">
                <a:schemeClr val="accent2">
                  <a:lumMod val="89000"/>
                </a:schemeClr>
              </a:gs>
              <a:gs pos="69000">
                <a:schemeClr val="accent2">
                  <a:lumMod val="75000"/>
                </a:schemeClr>
              </a:gs>
              <a:gs pos="97000">
                <a:schemeClr val="accent2">
                  <a:lumMod val="70000"/>
                </a:schemeClr>
              </a:gs>
            </a:gsLst>
            <a:path path="circle">
              <a:fillToRect l="50000" t="50000" r="50000" b="50000"/>
            </a:path>
          </a:gradFill>
          <a:ln>
            <a:gradFill flip="none" rotWithShape="1">
              <a:gsLst>
                <a:gs pos="38000">
                  <a:schemeClr val="accent2">
                    <a:lumMod val="67000"/>
                    <a:alpha val="0"/>
                  </a:schemeClr>
                </a:gs>
                <a:gs pos="100000">
                  <a:schemeClr val="accent2">
                    <a:lumMod val="60000"/>
                    <a:lumOff val="40000"/>
                  </a:schemeClr>
                </a:gs>
              </a:gsLst>
              <a:lin ang="16200000" scaled="1"/>
              <a:tileRect/>
            </a:gradFill>
          </a:ln>
          <a:effectLst>
            <a:reflection endPos="0" dist="50800" dir="5400000" sy="-100000" algn="bl" rotWithShape="0"/>
          </a:effectLst>
          <a:scene3d>
            <a:camera prst="orthographicFront"/>
            <a:lightRig rig="threePt" dir="t"/>
          </a:scene3d>
          <a:sp3d>
            <a:bevelB/>
          </a:sp3d>
        </p:spPr>
      </p:pic>
      <p:sp>
        <p:nvSpPr>
          <p:cNvPr id="8" name="Title 7">
            <a:extLst>
              <a:ext uri="{FF2B5EF4-FFF2-40B4-BE49-F238E27FC236}">
                <a16:creationId xmlns:a16="http://schemas.microsoft.com/office/drawing/2014/main" xmlns="" id="{E3FF2757-3447-43A7-89B7-A5E21DFCDC91}"/>
              </a:ext>
            </a:extLst>
          </p:cNvPr>
          <p:cNvSpPr>
            <a:spLocks noGrp="1"/>
          </p:cNvSpPr>
          <p:nvPr>
            <p:ph type="title"/>
          </p:nvPr>
        </p:nvSpPr>
        <p:spPr>
          <a:xfrm>
            <a:off x="838200" y="295564"/>
            <a:ext cx="9875982" cy="6317672"/>
          </a:xfrm>
          <a:noFill/>
          <a:ln>
            <a:noFill/>
          </a:ln>
          <a:effectLst>
            <a:glow rad="228600">
              <a:schemeClr val="accent4">
                <a:satMod val="175000"/>
                <a:alpha val="40000"/>
              </a:schemeClr>
            </a:glow>
          </a:effectLst>
          <a:scene3d>
            <a:camera prst="perspectiveBelow"/>
            <a:lightRig rig="threePt" dir="t"/>
          </a:scene3d>
        </p:spPr>
        <p:style>
          <a:lnRef idx="0">
            <a:scrgbClr r="0" g="0" b="0"/>
          </a:lnRef>
          <a:fillRef idx="0">
            <a:scrgbClr r="0" g="0" b="0"/>
          </a:fillRef>
          <a:effectRef idx="0">
            <a:scrgbClr r="0" g="0" b="0"/>
          </a:effectRef>
          <a:fontRef idx="minor">
            <a:schemeClr val="dk1"/>
          </a:fontRef>
        </p:style>
        <p:txBody>
          <a:bodyPr anchor="ctr">
            <a:normAutofit/>
          </a:bodyPr>
          <a:lstStyle/>
          <a:p>
            <a:pPr algn="ctr">
              <a:lnSpc>
                <a:spcPct val="100000"/>
              </a:lnSpc>
            </a:pPr>
            <a:r>
              <a:rPr lang="en-IN" sz="6600" b="1" i="1" spc="-300" dirty="0">
                <a:ln w="6600">
                  <a:solidFill>
                    <a:schemeClr val="accent2"/>
                  </a:solidFill>
                  <a:prstDash val="solid"/>
                </a:ln>
                <a:solidFill>
                  <a:srgbClr val="FFFFFF"/>
                </a:solidFill>
                <a:effectLst>
                  <a:outerShdw dist="38100" dir="2700000" algn="tl" rotWithShape="0">
                    <a:schemeClr val="accent2"/>
                  </a:outerShdw>
                </a:effectLst>
                <a:latin typeface="Candara" panose="020E0502030303020204" pitchFamily="34" charset="0"/>
              </a:rPr>
              <a:t>Counterfeit Integrated Circuit (IC) Detection Using Image Processing</a:t>
            </a:r>
            <a:br>
              <a:rPr lang="en-IN" sz="6600" b="1" i="1" spc="-300" dirty="0">
                <a:ln w="6600">
                  <a:solidFill>
                    <a:schemeClr val="accent2"/>
                  </a:solidFill>
                  <a:prstDash val="solid"/>
                </a:ln>
                <a:solidFill>
                  <a:srgbClr val="FFFFFF"/>
                </a:solidFill>
                <a:effectLst>
                  <a:outerShdw dist="38100" dir="2700000" algn="tl" rotWithShape="0">
                    <a:schemeClr val="accent2"/>
                  </a:outerShdw>
                </a:effectLst>
                <a:latin typeface="Candara" panose="020E0502030303020204" pitchFamily="34" charset="0"/>
              </a:rPr>
            </a:br>
            <a:endParaRPr lang="en-IN" sz="6600" b="1" i="1" spc="-300" dirty="0">
              <a:ln w="6600">
                <a:solidFill>
                  <a:schemeClr val="accent2"/>
                </a:solidFill>
                <a:prstDash val="solid"/>
              </a:ln>
              <a:solidFill>
                <a:srgbClr val="FFFFFF"/>
              </a:solidFill>
              <a:effectLst>
                <a:outerShdw dist="38100" dir="2700000" algn="tl" rotWithShape="0">
                  <a:schemeClr val="accent2"/>
                </a:outerShdw>
              </a:effectLst>
              <a:latin typeface="Candara" panose="020E0502030303020204" pitchFamily="34" charset="0"/>
            </a:endParaRPr>
          </a:p>
        </p:txBody>
      </p:sp>
    </p:spTree>
    <p:extLst>
      <p:ext uri="{BB962C8B-B14F-4D97-AF65-F5344CB8AC3E}">
        <p14:creationId xmlns:p14="http://schemas.microsoft.com/office/powerpoint/2010/main" val="760013156"/>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xmlns="" id="{15FAE7BF-C0D2-47E5-9183-109030D5DA23}"/>
              </a:ext>
            </a:extLst>
          </p:cNvPr>
          <p:cNvSpPr>
            <a:spLocks noGrp="1"/>
          </p:cNvSpPr>
          <p:nvPr>
            <p:ph type="title"/>
          </p:nvPr>
        </p:nvSpPr>
        <p:spPr>
          <a:xfrm>
            <a:off x="515938" y="453885"/>
            <a:ext cx="11482098" cy="1325563"/>
          </a:xfrm>
        </p:spPr>
        <p:txBody>
          <a:bodyPr/>
          <a:lstStyle/>
          <a:p>
            <a:pPr algn="ctr"/>
            <a:r>
              <a:rPr lang="en-IN" dirty="0"/>
              <a:t>Declaration</a:t>
            </a:r>
          </a:p>
        </p:txBody>
      </p:sp>
      <p:sp>
        <p:nvSpPr>
          <p:cNvPr id="3" name="Content Placeholder 2">
            <a:extLst>
              <a:ext uri="{FF2B5EF4-FFF2-40B4-BE49-F238E27FC236}">
                <a16:creationId xmlns:a16="http://schemas.microsoft.com/office/drawing/2014/main" xmlns="" id="{E214C757-D9ED-4978-A35A-84F7EF3824C2}"/>
              </a:ext>
            </a:extLst>
          </p:cNvPr>
          <p:cNvSpPr>
            <a:spLocks noGrp="1"/>
          </p:cNvSpPr>
          <p:nvPr>
            <p:ph idx="4294967295"/>
          </p:nvPr>
        </p:nvSpPr>
        <p:spPr>
          <a:xfrm>
            <a:off x="709613" y="2733675"/>
            <a:ext cx="11482387" cy="3233738"/>
          </a:xfrm>
          <a:no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0">
            <a:scrgbClr r="0" g="0" b="0"/>
          </a:lnRef>
          <a:fillRef idx="0">
            <a:scrgbClr r="0" g="0" b="0"/>
          </a:fillRef>
          <a:effectRef idx="0">
            <a:scrgbClr r="0" g="0" b="0"/>
          </a:effectRef>
          <a:fontRef idx="minor">
            <a:schemeClr val="dk1"/>
          </a:fontRef>
        </p:style>
        <p:txBody>
          <a:bodyPr>
            <a:normAutofit fontScale="55000" lnSpcReduction="20000"/>
            <a:scene3d>
              <a:camera prst="perspectiveFront"/>
              <a:lightRig rig="threePt" dir="t"/>
            </a:scene3d>
          </a:bodyPr>
          <a:lstStyle/>
          <a:p>
            <a:pPr marL="0" indent="0" algn="just">
              <a:buNone/>
            </a:pPr>
            <a:r>
              <a:rPr lang="en-US" sz="3100" dirty="0">
                <a:ln w="0"/>
                <a:solidFill>
                  <a:schemeClr val="tx1"/>
                </a:solidFill>
                <a:effectLst>
                  <a:outerShdw blurRad="38100" dist="19050" dir="2700000" algn="tl" rotWithShape="0">
                    <a:schemeClr val="dk1">
                      <a:alpha val="40000"/>
                    </a:schemeClr>
                  </a:outerShdw>
                </a:effectLst>
              </a:rPr>
              <a:t>I, Sruti Bhattacharjee, hereby, declare that this PowerPoint presentation is an authentic work being carried out by me under the guidance of Dr. Rajat Shubhra Chakraborty of Computer Science and Engineering Department, Indian Institute of Techno and is approved as final year project by Department of Information Technology of MCKV Institute of Engineering. I’m submitting this  to Maulana </a:t>
            </a:r>
            <a:r>
              <a:rPr lang="en-US" sz="3100" dirty="0" err="1">
                <a:ln w="0"/>
                <a:solidFill>
                  <a:schemeClr val="tx1"/>
                </a:solidFill>
                <a:effectLst>
                  <a:outerShdw blurRad="38100" dist="19050" dir="2700000" algn="tl" rotWithShape="0">
                    <a:schemeClr val="dk1">
                      <a:alpha val="40000"/>
                    </a:schemeClr>
                  </a:outerShdw>
                </a:effectLst>
              </a:rPr>
              <a:t>Abul</a:t>
            </a:r>
            <a:r>
              <a:rPr lang="en-US" sz="3100" dirty="0">
                <a:ln w="0"/>
                <a:solidFill>
                  <a:schemeClr val="tx1"/>
                </a:solidFill>
                <a:effectLst>
                  <a:outerShdw blurRad="38100" dist="19050" dir="2700000" algn="tl" rotWithShape="0">
                    <a:schemeClr val="dk1">
                      <a:alpha val="40000"/>
                    </a:schemeClr>
                  </a:outerShdw>
                </a:effectLst>
              </a:rPr>
              <a:t> </a:t>
            </a:r>
            <a:r>
              <a:rPr lang="en-US" sz="3100" dirty="0" err="1">
                <a:ln w="0"/>
                <a:solidFill>
                  <a:schemeClr val="tx1"/>
                </a:solidFill>
                <a:effectLst>
                  <a:outerShdw blurRad="38100" dist="19050" dir="2700000" algn="tl" rotWithShape="0">
                    <a:schemeClr val="dk1">
                      <a:alpha val="40000"/>
                    </a:schemeClr>
                  </a:outerShdw>
                </a:effectLst>
              </a:rPr>
              <a:t>Kalam</a:t>
            </a:r>
            <a:r>
              <a:rPr lang="en-US" sz="3100" dirty="0">
                <a:ln w="0"/>
                <a:solidFill>
                  <a:schemeClr val="tx1"/>
                </a:solidFill>
                <a:effectLst>
                  <a:outerShdw blurRad="38100" dist="19050" dir="2700000" algn="tl" rotWithShape="0">
                    <a:schemeClr val="dk1">
                      <a:alpha val="40000"/>
                    </a:schemeClr>
                  </a:outerShdw>
                </a:effectLst>
              </a:rPr>
              <a:t> Azad University of Technology for as a work to get bachelor degree in Information Technology</a:t>
            </a:r>
            <a:r>
              <a:rPr lang="en-US" sz="3100" dirty="0" smtClean="0">
                <a:ln w="0"/>
                <a:solidFill>
                  <a:schemeClr val="tx1"/>
                </a:solidFill>
                <a:effectLst>
                  <a:outerShdw blurRad="38100" dist="19050" dir="2700000" algn="tl" rotWithShape="0">
                    <a:schemeClr val="dk1">
                      <a:alpha val="40000"/>
                    </a:schemeClr>
                  </a:outerShdw>
                </a:effectLst>
              </a:rPr>
              <a:t>.</a:t>
            </a:r>
          </a:p>
          <a:p>
            <a:pPr marL="0" indent="0" algn="just">
              <a:buNone/>
            </a:pPr>
            <a:endParaRPr lang="en-US" dirty="0">
              <a:ln w="0"/>
              <a:solidFill>
                <a:schemeClr val="tx1"/>
              </a:solidFill>
              <a:effectLst>
                <a:outerShdw blurRad="38100" dist="19050" dir="2700000" algn="tl" rotWithShape="0">
                  <a:schemeClr val="dk1">
                    <a:alpha val="40000"/>
                  </a:schemeClr>
                </a:outerShdw>
              </a:effectLst>
            </a:endParaRPr>
          </a:p>
          <a:p>
            <a:pPr marL="0" indent="0" algn="just">
              <a:buNone/>
            </a:pPr>
            <a:r>
              <a:rPr lang="en-IN" dirty="0">
                <a:ln w="0"/>
                <a:solidFill>
                  <a:schemeClr val="tx1"/>
                </a:solidFill>
                <a:effectLst>
                  <a:outerShdw blurRad="38100" dist="19050" dir="2700000" algn="tl" rotWithShape="0">
                    <a:schemeClr val="dk1">
                      <a:alpha val="40000"/>
                    </a:schemeClr>
                  </a:outerShdw>
                </a:effectLst>
              </a:rPr>
              <a:t>									</a:t>
            </a:r>
            <a:r>
              <a:rPr lang="en-IN" dirty="0">
                <a:ln w="0"/>
                <a:solidFill>
                  <a:schemeClr val="tx1"/>
                </a:solidFill>
                <a:effectLst>
                  <a:outerShdw blurRad="38100" dist="19050" dir="2700000" algn="tl" rotWithShape="0">
                    <a:schemeClr val="dk1">
                      <a:alpha val="40000"/>
                    </a:schemeClr>
                  </a:outerShdw>
                </a:effectLst>
                <a:latin typeface="Segoe Print" panose="02000600000000000000" pitchFamily="2" charset="0"/>
              </a:rPr>
              <a:t>Sruti Bhattacharjee</a:t>
            </a:r>
          </a:p>
          <a:p>
            <a:pPr marL="0" indent="0" algn="just">
              <a:buNone/>
            </a:pPr>
            <a:r>
              <a:rPr lang="en-IN" dirty="0">
                <a:ln w="0"/>
                <a:solidFill>
                  <a:schemeClr val="tx1"/>
                </a:solidFill>
                <a:effectLst>
                  <a:outerShdw blurRad="38100" dist="19050" dir="2700000" algn="tl" rotWithShape="0">
                    <a:schemeClr val="dk1">
                      <a:alpha val="40000"/>
                    </a:schemeClr>
                  </a:outerShdw>
                </a:effectLst>
                <a:latin typeface="Segoe Print" panose="02000600000000000000" pitchFamily="2" charset="0"/>
              </a:rPr>
              <a:t>									IT/14/20</a:t>
            </a:r>
          </a:p>
          <a:p>
            <a:pPr marL="0" indent="0" algn="just">
              <a:buNone/>
            </a:pPr>
            <a:r>
              <a:rPr lang="en-IN" dirty="0">
                <a:ln w="0"/>
                <a:solidFill>
                  <a:schemeClr val="tx1"/>
                </a:solidFill>
                <a:effectLst>
                  <a:outerShdw blurRad="38100" dist="19050" dir="2700000" algn="tl" rotWithShape="0">
                    <a:schemeClr val="dk1">
                      <a:alpha val="40000"/>
                    </a:schemeClr>
                  </a:outerShdw>
                </a:effectLst>
                <a:latin typeface="Segoe Print" panose="02000600000000000000" pitchFamily="2" charset="0"/>
              </a:rPr>
              <a:t>									Roll No: 11600214049</a:t>
            </a:r>
          </a:p>
          <a:p>
            <a:pPr marL="0" indent="0">
              <a:buNone/>
            </a:pPr>
            <a:r>
              <a:rPr lang="en-US" dirty="0">
                <a:ln w="0"/>
                <a:solidFill>
                  <a:schemeClr val="tx1"/>
                </a:solidFill>
                <a:effectLst>
                  <a:outerShdw blurRad="38100" dist="19050" dir="2700000" algn="tl" rotWithShape="0">
                    <a:schemeClr val="dk1">
                      <a:alpha val="40000"/>
                    </a:schemeClr>
                  </a:outerShdw>
                </a:effectLst>
              </a:rPr>
              <a:t> </a:t>
            </a:r>
            <a:endParaRPr lang="en-IN" dirty="0">
              <a:ln w="0"/>
              <a:solidFill>
                <a:schemeClr val="tx1"/>
              </a:solidFill>
              <a:effectLst>
                <a:outerShdw blurRad="38100" dist="19050" dir="2700000" algn="tl" rotWithShape="0">
                  <a:schemeClr val="dk1">
                    <a:alpha val="40000"/>
                  </a:schemeClr>
                </a:outerShdw>
              </a:effectLst>
            </a:endParaRPr>
          </a:p>
          <a:p>
            <a:pPr marL="0" indent="0">
              <a:buNone/>
            </a:pPr>
            <a:r>
              <a:rPr lang="en-US" dirty="0">
                <a:ln w="0"/>
                <a:solidFill>
                  <a:schemeClr val="tx1"/>
                </a:solidFill>
                <a:effectLst>
                  <a:outerShdw blurRad="38100" dist="19050" dir="2700000" algn="tl" rotWithShape="0">
                    <a:schemeClr val="dk1">
                      <a:alpha val="40000"/>
                    </a:schemeClr>
                  </a:outerShdw>
                </a:effectLst>
              </a:rPr>
              <a:t> </a:t>
            </a:r>
            <a:endParaRPr lang="en-IN" dirty="0">
              <a:ln w="0"/>
              <a:solidFill>
                <a:schemeClr val="tx1"/>
              </a:solidFill>
              <a:effectLst>
                <a:outerShdw blurRad="38100" dist="19050" dir="2700000" algn="tl" rotWithShape="0">
                  <a:schemeClr val="dk1">
                    <a:alpha val="40000"/>
                  </a:schemeClr>
                </a:outerShdw>
              </a:effectLst>
            </a:endParaRPr>
          </a:p>
          <a:p>
            <a:pPr marL="0" indent="0">
              <a:buNone/>
            </a:pPr>
            <a:endParaRPr lang="en-IN" dirty="0">
              <a:ln w="0"/>
              <a:solidFill>
                <a:schemeClr val="tx1"/>
              </a:solidFill>
              <a:effectLst>
                <a:outerShdw blurRad="38100" dist="19050" dir="2700000" algn="tl" rotWithShape="0">
                  <a:schemeClr val="dk1">
                    <a:alpha val="40000"/>
                  </a:schemeClr>
                </a:outerShdw>
              </a:effectLst>
            </a:endParaRPr>
          </a:p>
        </p:txBody>
      </p:sp>
      <p:pic>
        <p:nvPicPr>
          <p:cNvPr id="8" name="Picture 7" descr="A close up of a sign&#10;&#10;Description generated with very high confidence">
            <a:extLst>
              <a:ext uri="{FF2B5EF4-FFF2-40B4-BE49-F238E27FC236}">
                <a16:creationId xmlns:a16="http://schemas.microsoft.com/office/drawing/2014/main" xmlns="" id="{E9B3D05B-25F4-4629-ACA5-DA3036319D5A}"/>
              </a:ext>
            </a:extLst>
          </p:cNvPr>
          <p:cNvPicPr>
            <a:picLocks noChangeAspect="1"/>
          </p:cNvPicPr>
          <p:nvPr/>
        </p:nvPicPr>
        <p:blipFill>
          <a:blip r:embed="rId2"/>
          <a:stretch>
            <a:fillRect/>
          </a:stretch>
        </p:blipFill>
        <p:spPr>
          <a:xfrm>
            <a:off x="10283662" y="157018"/>
            <a:ext cx="1714374" cy="1919299"/>
          </a:xfrm>
          <a:prstGeom prst="rect">
            <a:avLst/>
          </a:prstGeom>
        </p:spPr>
      </p:pic>
      <p:pic>
        <p:nvPicPr>
          <p:cNvPr id="10" name="Picture 9" descr="A close up of a sign&#10;&#10;Description generated with very high confidence">
            <a:extLst>
              <a:ext uri="{FF2B5EF4-FFF2-40B4-BE49-F238E27FC236}">
                <a16:creationId xmlns:a16="http://schemas.microsoft.com/office/drawing/2014/main" xmlns="" id="{3FE17BE9-3DF1-4EEB-8665-0E2AE1897EDA}"/>
              </a:ext>
            </a:extLst>
          </p:cNvPr>
          <p:cNvPicPr>
            <a:picLocks noChangeAspect="1"/>
          </p:cNvPicPr>
          <p:nvPr/>
        </p:nvPicPr>
        <p:blipFill>
          <a:blip r:embed="rId3"/>
          <a:stretch>
            <a:fillRect/>
          </a:stretch>
        </p:blipFill>
        <p:spPr>
          <a:xfrm>
            <a:off x="269058" y="-28853"/>
            <a:ext cx="2420946" cy="2105170"/>
          </a:xfrm>
          <a:prstGeom prst="rect">
            <a:avLst/>
          </a:prstGeom>
        </p:spPr>
      </p:pic>
    </p:spTree>
    <p:extLst>
      <p:ext uri="{BB962C8B-B14F-4D97-AF65-F5344CB8AC3E}">
        <p14:creationId xmlns:p14="http://schemas.microsoft.com/office/powerpoint/2010/main" val="2587801253"/>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xmlns="" id="{D427B786-8638-4D51-BB6C-3BE7430A6E21}"/>
              </a:ext>
            </a:extLst>
          </p:cNvPr>
          <p:cNvSpPr>
            <a:spLocks noGrp="1"/>
          </p:cNvSpPr>
          <p:nvPr>
            <p:ph type="title"/>
          </p:nvPr>
        </p:nvSpPr>
        <p:spPr/>
        <p:txBody>
          <a:bodyPr/>
          <a:lstStyle/>
          <a:p>
            <a:pPr algn="ctr"/>
            <a:r>
              <a:rPr lang="en-IN" dirty="0" smtClean="0"/>
              <a:t>OBJECTIVEs</a:t>
            </a:r>
            <a:endParaRPr lang="en-IN" dirty="0"/>
          </a:p>
        </p:txBody>
      </p:sp>
      <p:sp>
        <p:nvSpPr>
          <p:cNvPr id="4" name="Content Placeholder 3">
            <a:extLst>
              <a:ext uri="{FF2B5EF4-FFF2-40B4-BE49-F238E27FC236}">
                <a16:creationId xmlns:a16="http://schemas.microsoft.com/office/drawing/2014/main" xmlns="" id="{4ED5F1EE-30A0-4532-A058-D73F4E59023C}"/>
              </a:ext>
            </a:extLst>
          </p:cNvPr>
          <p:cNvSpPr>
            <a:spLocks noGrp="1"/>
          </p:cNvSpPr>
          <p:nvPr>
            <p:ph idx="1"/>
          </p:nvPr>
        </p:nvSpPr>
        <p:spPr/>
        <p:txBody>
          <a:bodyPr>
            <a:normAutofit/>
          </a:bodyPr>
          <a:lstStyle/>
          <a:p>
            <a:pPr>
              <a:buFont typeface="Wingdings" panose="05000000000000000000" pitchFamily="2" charset="2"/>
              <a:buChar char="Ø"/>
            </a:pPr>
            <a:r>
              <a:rPr lang="en-IN" dirty="0"/>
              <a:t> Detection </a:t>
            </a:r>
            <a:r>
              <a:rPr lang="en-IN" dirty="0" smtClean="0"/>
              <a:t>and classification of </a:t>
            </a:r>
            <a:r>
              <a:rPr lang="en-IN" dirty="0"/>
              <a:t>Counterfeit Integrated Circuit </a:t>
            </a:r>
          </a:p>
          <a:p>
            <a:pPr marL="0" indent="0">
              <a:buNone/>
            </a:pPr>
            <a:endParaRPr lang="en-IN" dirty="0"/>
          </a:p>
          <a:p>
            <a:pPr>
              <a:buFont typeface="Wingdings" panose="05000000000000000000" pitchFamily="2" charset="2"/>
              <a:buChar char="Ø"/>
            </a:pPr>
            <a:r>
              <a:rPr lang="en-IN" dirty="0"/>
              <a:t> Feature detection algorithm development </a:t>
            </a:r>
          </a:p>
          <a:p>
            <a:pPr>
              <a:buFont typeface="Wingdings" panose="05000000000000000000" pitchFamily="2" charset="2"/>
              <a:buChar char="Ø"/>
            </a:pPr>
            <a:endParaRPr lang="en-IN" dirty="0"/>
          </a:p>
          <a:p>
            <a:pPr>
              <a:buFont typeface="Wingdings" panose="05000000000000000000" pitchFamily="2" charset="2"/>
              <a:buChar char="Ø"/>
            </a:pPr>
            <a:r>
              <a:rPr lang="en-IN" dirty="0"/>
              <a:t>Explore image analysis techniques and their limitations </a:t>
            </a:r>
          </a:p>
          <a:p>
            <a:pPr marL="0" indent="0">
              <a:buNone/>
            </a:pPr>
            <a:endParaRPr lang="en-IN" dirty="0"/>
          </a:p>
        </p:txBody>
      </p:sp>
    </p:spTree>
    <p:extLst>
      <p:ext uri="{BB962C8B-B14F-4D97-AF65-F5344CB8AC3E}">
        <p14:creationId xmlns:p14="http://schemas.microsoft.com/office/powerpoint/2010/main" val="495990014"/>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IN" dirty="0" smtClean="0"/>
              <a:t>contents</a:t>
            </a:r>
            <a:endParaRPr lang="en-US" dirty="0"/>
          </a:p>
        </p:txBody>
      </p:sp>
      <p:sp>
        <p:nvSpPr>
          <p:cNvPr id="3" name="Content Placeholder 2"/>
          <p:cNvSpPr>
            <a:spLocks noGrp="1"/>
          </p:cNvSpPr>
          <p:nvPr>
            <p:ph idx="1"/>
          </p:nvPr>
        </p:nvSpPr>
        <p:spPr>
          <a:xfrm>
            <a:off x="1141413" y="2249487"/>
            <a:ext cx="4465304" cy="3541714"/>
          </a:xfrm>
        </p:spPr>
        <p:txBody>
          <a:bodyPr>
            <a:normAutofit fontScale="92500" lnSpcReduction="20000"/>
          </a:bodyPr>
          <a:lstStyle/>
          <a:p>
            <a:pPr>
              <a:buFont typeface="Wingdings" panose="05000000000000000000" pitchFamily="2" charset="2"/>
              <a:buChar char="Ø"/>
            </a:pPr>
            <a:r>
              <a:rPr lang="en-IN" dirty="0" smtClean="0"/>
              <a:t>Introduction</a:t>
            </a:r>
          </a:p>
          <a:p>
            <a:pPr>
              <a:buFont typeface="Wingdings" panose="05000000000000000000" pitchFamily="2" charset="2"/>
              <a:buChar char="Ø"/>
            </a:pPr>
            <a:r>
              <a:rPr lang="en-IN" dirty="0"/>
              <a:t> </a:t>
            </a:r>
            <a:r>
              <a:rPr lang="en-IN" dirty="0" smtClean="0"/>
              <a:t>Background</a:t>
            </a:r>
          </a:p>
          <a:p>
            <a:pPr>
              <a:buFont typeface="Wingdings" panose="05000000000000000000" pitchFamily="2" charset="2"/>
              <a:buChar char="Ø"/>
            </a:pPr>
            <a:r>
              <a:rPr lang="en-IN" dirty="0"/>
              <a:t> </a:t>
            </a:r>
            <a:r>
              <a:rPr lang="en-IN" dirty="0" smtClean="0"/>
              <a:t>Tests for Counterfeit Detection</a:t>
            </a:r>
          </a:p>
          <a:p>
            <a:pPr>
              <a:buFont typeface="Wingdings" panose="05000000000000000000" pitchFamily="2" charset="2"/>
              <a:buChar char="Ø"/>
            </a:pPr>
            <a:r>
              <a:rPr lang="en-IN" dirty="0" smtClean="0"/>
              <a:t> Work Done</a:t>
            </a:r>
          </a:p>
          <a:p>
            <a:pPr>
              <a:buFont typeface="Wingdings" panose="05000000000000000000" pitchFamily="2" charset="2"/>
              <a:buChar char="Ø"/>
            </a:pPr>
            <a:r>
              <a:rPr lang="en-IN" dirty="0"/>
              <a:t> </a:t>
            </a:r>
            <a:r>
              <a:rPr lang="en-IN" dirty="0" smtClean="0"/>
              <a:t>Pin Feature Detection and Extraction</a:t>
            </a:r>
          </a:p>
          <a:p>
            <a:pPr>
              <a:buFont typeface="Wingdings" panose="05000000000000000000" pitchFamily="2" charset="2"/>
              <a:buChar char="Ø"/>
            </a:pPr>
            <a:r>
              <a:rPr lang="en-IN" dirty="0" smtClean="0"/>
              <a:t> Results</a:t>
            </a:r>
          </a:p>
          <a:p>
            <a:pPr>
              <a:buFont typeface="Wingdings" panose="05000000000000000000" pitchFamily="2" charset="2"/>
              <a:buChar char="Ø"/>
            </a:pPr>
            <a:r>
              <a:rPr lang="en-IN" dirty="0"/>
              <a:t> </a:t>
            </a:r>
            <a:r>
              <a:rPr lang="en-IN" dirty="0" smtClean="0"/>
              <a:t>Challenges Faced</a:t>
            </a:r>
          </a:p>
          <a:p>
            <a:pPr>
              <a:buFont typeface="Wingdings" panose="05000000000000000000" pitchFamily="2" charset="2"/>
              <a:buChar char="Ø"/>
            </a:pPr>
            <a:endParaRPr lang="en-US" dirty="0"/>
          </a:p>
        </p:txBody>
      </p:sp>
      <p:sp>
        <p:nvSpPr>
          <p:cNvPr id="4" name="Content Placeholder 2"/>
          <p:cNvSpPr txBox="1">
            <a:spLocks/>
          </p:cNvSpPr>
          <p:nvPr/>
        </p:nvSpPr>
        <p:spPr>
          <a:xfrm>
            <a:off x="6491455" y="2249487"/>
            <a:ext cx="4465304" cy="3541714"/>
          </a:xfrm>
          <a:prstGeom prst="rect">
            <a:avLst/>
          </a:prstGeom>
        </p:spPr>
        <p:txBody>
          <a:bodyPr vert="horz" lIns="91440" tIns="45720" rIns="91440" bIns="45720" rtlCol="0">
            <a:normAutofit fontScale="92500" lnSpcReduction="100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a:buFont typeface="Wingdings" panose="05000000000000000000" pitchFamily="2" charset="2"/>
              <a:buChar char="Ø"/>
            </a:pPr>
            <a:r>
              <a:rPr lang="en-IN" dirty="0" smtClean="0"/>
              <a:t> Proposed Hypotheses</a:t>
            </a:r>
          </a:p>
          <a:p>
            <a:pPr>
              <a:buFont typeface="Wingdings" panose="05000000000000000000" pitchFamily="2" charset="2"/>
              <a:buChar char="Ø"/>
            </a:pPr>
            <a:r>
              <a:rPr lang="en-IN" dirty="0" smtClean="0"/>
              <a:t> What is CNN?</a:t>
            </a:r>
          </a:p>
          <a:p>
            <a:pPr>
              <a:buFont typeface="Wingdings" panose="05000000000000000000" pitchFamily="2" charset="2"/>
              <a:buChar char="Ø"/>
            </a:pPr>
            <a:r>
              <a:rPr lang="en-IN" dirty="0" smtClean="0"/>
              <a:t> Why use CNN?</a:t>
            </a:r>
          </a:p>
          <a:p>
            <a:pPr>
              <a:buFont typeface="Wingdings" panose="05000000000000000000" pitchFamily="2" charset="2"/>
              <a:buChar char="Ø"/>
            </a:pPr>
            <a:r>
              <a:rPr lang="en-IN" dirty="0" smtClean="0"/>
              <a:t> How to use CNN?</a:t>
            </a:r>
          </a:p>
          <a:p>
            <a:pPr>
              <a:buFont typeface="Wingdings" panose="05000000000000000000" pitchFamily="2" charset="2"/>
              <a:buChar char="Ø"/>
            </a:pPr>
            <a:r>
              <a:rPr lang="en-IN" dirty="0" smtClean="0"/>
              <a:t> Future Work</a:t>
            </a:r>
          </a:p>
          <a:p>
            <a:pPr>
              <a:buFont typeface="Wingdings" panose="05000000000000000000" pitchFamily="2" charset="2"/>
              <a:buChar char="Ø"/>
            </a:pPr>
            <a:r>
              <a:rPr lang="en-IN" dirty="0" smtClean="0"/>
              <a:t> Conclusion</a:t>
            </a:r>
          </a:p>
          <a:p>
            <a:pPr>
              <a:buFont typeface="Wingdings" panose="05000000000000000000" pitchFamily="2" charset="2"/>
              <a:buChar char="Ø"/>
            </a:pPr>
            <a:r>
              <a:rPr lang="en-IN" dirty="0" smtClean="0"/>
              <a:t> References</a:t>
            </a:r>
          </a:p>
          <a:p>
            <a:pPr marL="0" indent="0">
              <a:buNone/>
            </a:pPr>
            <a:endParaRPr lang="en-IN" dirty="0" smtClean="0"/>
          </a:p>
          <a:p>
            <a:pPr>
              <a:buFont typeface="Wingdings" panose="05000000000000000000" pitchFamily="2" charset="2"/>
              <a:buChar char="Ø"/>
            </a:pPr>
            <a:endParaRPr lang="en-US" dirty="0"/>
          </a:p>
        </p:txBody>
      </p:sp>
    </p:spTree>
    <p:extLst>
      <p:ext uri="{BB962C8B-B14F-4D97-AF65-F5344CB8AC3E}">
        <p14:creationId xmlns:p14="http://schemas.microsoft.com/office/powerpoint/2010/main" val="1736757159"/>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D42073A-6595-43BB-B60D-610A895BB371}"/>
              </a:ext>
            </a:extLst>
          </p:cNvPr>
          <p:cNvSpPr>
            <a:spLocks noGrp="1"/>
          </p:cNvSpPr>
          <p:nvPr>
            <p:ph type="title"/>
          </p:nvPr>
        </p:nvSpPr>
        <p:spPr/>
        <p:txBody>
          <a:bodyPr/>
          <a:lstStyle/>
          <a:p>
            <a:pPr algn="ctr"/>
            <a:r>
              <a:rPr lang="en-IN" dirty="0"/>
              <a:t>INTRODUCTION</a:t>
            </a:r>
          </a:p>
        </p:txBody>
      </p:sp>
      <p:sp>
        <p:nvSpPr>
          <p:cNvPr id="3" name="Content Placeholder 2">
            <a:extLst>
              <a:ext uri="{FF2B5EF4-FFF2-40B4-BE49-F238E27FC236}">
                <a16:creationId xmlns:a16="http://schemas.microsoft.com/office/drawing/2014/main" xmlns="" id="{FF595ED2-0703-4775-BF6A-837FE0763833}"/>
              </a:ext>
            </a:extLst>
          </p:cNvPr>
          <p:cNvSpPr>
            <a:spLocks noGrp="1"/>
          </p:cNvSpPr>
          <p:nvPr>
            <p:ph idx="1"/>
          </p:nvPr>
        </p:nvSpPr>
        <p:spPr>
          <a:xfrm>
            <a:off x="1141412" y="2249487"/>
            <a:ext cx="9905999" cy="4280622"/>
          </a:xfrm>
        </p:spPr>
        <p:txBody>
          <a:bodyPr>
            <a:normAutofit lnSpcReduction="10000"/>
          </a:bodyPr>
          <a:lstStyle/>
          <a:p>
            <a:pPr>
              <a:buFont typeface="Wingdings" panose="05000000000000000000" pitchFamily="2" charset="2"/>
              <a:buChar char="Ø"/>
            </a:pPr>
            <a:r>
              <a:rPr lang="en-IN" dirty="0"/>
              <a:t>Counterfeit products are fake and are often produced with the intent to take advantage of the superior value of the imitated product</a:t>
            </a:r>
          </a:p>
          <a:p>
            <a:pPr marL="0" indent="0">
              <a:buNone/>
            </a:pPr>
            <a:endParaRPr lang="en-IN" dirty="0"/>
          </a:p>
          <a:p>
            <a:pPr>
              <a:buFont typeface="Wingdings" panose="05000000000000000000" pitchFamily="2" charset="2"/>
              <a:buChar char="Ø"/>
            </a:pPr>
            <a:r>
              <a:rPr lang="en-IN" dirty="0"/>
              <a:t> NEC products</a:t>
            </a:r>
          </a:p>
          <a:p>
            <a:pPr marL="0" indent="0">
              <a:buNone/>
            </a:pPr>
            <a:endParaRPr lang="en-IN" dirty="0"/>
          </a:p>
          <a:p>
            <a:pPr>
              <a:buFont typeface="Wingdings" panose="05000000000000000000" pitchFamily="2" charset="2"/>
              <a:buChar char="Ø"/>
            </a:pPr>
            <a:r>
              <a:rPr lang="en-IN" dirty="0"/>
              <a:t>Counterfeit business and Operational Network Raider</a:t>
            </a:r>
          </a:p>
          <a:p>
            <a:pPr marL="0" indent="0">
              <a:buNone/>
            </a:pPr>
            <a:endParaRPr lang="en-IN" dirty="0"/>
          </a:p>
          <a:p>
            <a:pPr>
              <a:buFont typeface="Wingdings" panose="05000000000000000000" pitchFamily="2" charset="2"/>
              <a:buChar char="Ø"/>
            </a:pPr>
            <a:r>
              <a:rPr lang="en-IN" dirty="0"/>
              <a:t> Unique components of an IC not made by company intentionally </a:t>
            </a:r>
          </a:p>
          <a:p>
            <a:pPr marL="0" indent="0">
              <a:buNone/>
            </a:pPr>
            <a:endParaRPr lang="en-IN" dirty="0"/>
          </a:p>
          <a:p>
            <a:pPr>
              <a:buFont typeface="Wingdings" panose="05000000000000000000" pitchFamily="2" charset="2"/>
              <a:buChar char="Ø"/>
            </a:pPr>
            <a:endParaRPr lang="en-IN" dirty="0"/>
          </a:p>
        </p:txBody>
      </p:sp>
    </p:spTree>
    <p:extLst>
      <p:ext uri="{BB962C8B-B14F-4D97-AF65-F5344CB8AC3E}">
        <p14:creationId xmlns:p14="http://schemas.microsoft.com/office/powerpoint/2010/main" val="2724459600"/>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IN" dirty="0" smtClean="0"/>
              <a:t>BACKGROUND</a:t>
            </a:r>
            <a:endParaRPr lang="en-US" dirty="0"/>
          </a:p>
        </p:txBody>
      </p:sp>
      <p:sp>
        <p:nvSpPr>
          <p:cNvPr id="3" name="Content Placeholder 2"/>
          <p:cNvSpPr>
            <a:spLocks noGrp="1"/>
          </p:cNvSpPr>
          <p:nvPr>
            <p:ph idx="1"/>
          </p:nvPr>
        </p:nvSpPr>
        <p:spPr/>
        <p:txBody>
          <a:bodyPr/>
          <a:lstStyle/>
          <a:p>
            <a:pPr>
              <a:buFont typeface="Wingdings" panose="05000000000000000000" pitchFamily="2" charset="2"/>
              <a:buChar char="Ø"/>
            </a:pPr>
            <a:r>
              <a:rPr lang="en-IN" dirty="0" smtClean="0"/>
              <a:t> Integrated Circuits form the core of any electronic product be it a highly sophisticated lab instrument or the power convertor in our phone charger</a:t>
            </a:r>
            <a:endParaRPr lang="en-US" dirty="0" smtClean="0"/>
          </a:p>
          <a:p>
            <a:pPr>
              <a:buFont typeface="Wingdings" panose="05000000000000000000" pitchFamily="2" charset="2"/>
              <a:buChar char="Ø"/>
            </a:pPr>
            <a:r>
              <a:rPr lang="en-IN" dirty="0"/>
              <a:t> </a:t>
            </a:r>
            <a:r>
              <a:rPr lang="en-IN" dirty="0" smtClean="0"/>
              <a:t>There are different types of ICs and hence a wide scope for illegal counterfeits to contaminate the market</a:t>
            </a:r>
          </a:p>
          <a:p>
            <a:pPr>
              <a:buFont typeface="Wingdings" panose="05000000000000000000" pitchFamily="2" charset="2"/>
              <a:buChar char="Ø"/>
            </a:pPr>
            <a:r>
              <a:rPr lang="en-IN" dirty="0"/>
              <a:t> </a:t>
            </a:r>
            <a:r>
              <a:rPr lang="en-IN" dirty="0" smtClean="0"/>
              <a:t>It is the defects in the fake ones which help us to distinguish the original ICs from the counterfeits</a:t>
            </a:r>
          </a:p>
        </p:txBody>
      </p:sp>
      <p:pic>
        <p:nvPicPr>
          <p:cNvPr id="4" name="Picture 3"/>
          <p:cNvPicPr/>
          <p:nvPr/>
        </p:nvPicPr>
        <p:blipFill>
          <a:blip r:embed="rId2">
            <a:extLst>
              <a:ext uri="{28A0092B-C50C-407E-A947-70E740481C1C}">
                <a14:useLocalDpi xmlns:a14="http://schemas.microsoft.com/office/drawing/2010/main" val="0"/>
              </a:ext>
            </a:extLst>
          </a:blip>
          <a:stretch>
            <a:fillRect/>
          </a:stretch>
        </p:blipFill>
        <p:spPr>
          <a:xfrm>
            <a:off x="4390288" y="4907882"/>
            <a:ext cx="3321954" cy="1385169"/>
          </a:xfrm>
          <a:prstGeom prst="rect">
            <a:avLst/>
          </a:prstGeom>
        </p:spPr>
      </p:pic>
      <p:pic>
        <p:nvPicPr>
          <p:cNvPr id="5" name="Picture 4"/>
          <p:cNvPicPr/>
          <p:nvPr/>
        </p:nvPicPr>
        <p:blipFill>
          <a:blip r:embed="rId3">
            <a:extLst>
              <a:ext uri="{28A0092B-C50C-407E-A947-70E740481C1C}">
                <a14:useLocalDpi xmlns:a14="http://schemas.microsoft.com/office/drawing/2010/main" val="0"/>
              </a:ext>
            </a:extLst>
          </a:blip>
          <a:stretch>
            <a:fillRect/>
          </a:stretch>
        </p:blipFill>
        <p:spPr>
          <a:xfrm>
            <a:off x="8091472" y="4907882"/>
            <a:ext cx="3482908" cy="1385169"/>
          </a:xfrm>
          <a:prstGeom prst="rect">
            <a:avLst/>
          </a:prstGeom>
        </p:spPr>
      </p:pic>
    </p:spTree>
    <p:extLst>
      <p:ext uri="{BB962C8B-B14F-4D97-AF65-F5344CB8AC3E}">
        <p14:creationId xmlns:p14="http://schemas.microsoft.com/office/powerpoint/2010/main" val="2771193887"/>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768BACC-EF86-4BE1-8D7E-48AEA2D0E755}"/>
              </a:ext>
            </a:extLst>
          </p:cNvPr>
          <p:cNvSpPr>
            <a:spLocks noGrp="1"/>
          </p:cNvSpPr>
          <p:nvPr>
            <p:ph type="title"/>
          </p:nvPr>
        </p:nvSpPr>
        <p:spPr>
          <a:xfrm>
            <a:off x="1141413" y="110836"/>
            <a:ext cx="9905998" cy="822065"/>
          </a:xfrm>
        </p:spPr>
        <p:txBody>
          <a:bodyPr anchor="t"/>
          <a:lstStyle/>
          <a:p>
            <a:pPr algn="ctr"/>
            <a:r>
              <a:rPr lang="en-IN" dirty="0" smtClean="0"/>
              <a:t>TESTS FOR COUNTERFEIT DETECTION</a:t>
            </a:r>
            <a:endParaRPr lang="en-IN" dirty="0"/>
          </a:p>
        </p:txBody>
      </p:sp>
      <p:sp>
        <p:nvSpPr>
          <p:cNvPr id="3" name="Content Placeholder 2">
            <a:extLst>
              <a:ext uri="{FF2B5EF4-FFF2-40B4-BE49-F238E27FC236}">
                <a16:creationId xmlns:a16="http://schemas.microsoft.com/office/drawing/2014/main" xmlns="" id="{17BDA10B-6342-4943-82C7-4E9DA8549220}"/>
              </a:ext>
            </a:extLst>
          </p:cNvPr>
          <p:cNvSpPr>
            <a:spLocks noGrp="1"/>
          </p:cNvSpPr>
          <p:nvPr>
            <p:ph idx="1"/>
          </p:nvPr>
        </p:nvSpPr>
        <p:spPr>
          <a:xfrm>
            <a:off x="1311564" y="1256145"/>
            <a:ext cx="10880436" cy="5357091"/>
          </a:xfrm>
        </p:spPr>
        <p:txBody>
          <a:bodyPr/>
          <a:lstStyle/>
          <a:p>
            <a:pPr>
              <a:buFont typeface="Wingdings" panose="05000000000000000000" pitchFamily="2" charset="2"/>
              <a:buChar char="Ø"/>
            </a:pPr>
            <a:r>
              <a:rPr lang="en-IN" dirty="0"/>
              <a:t> Detailed EVI </a:t>
            </a:r>
          </a:p>
          <a:p>
            <a:pPr>
              <a:buFont typeface="Wingdings" panose="05000000000000000000" pitchFamily="2" charset="2"/>
              <a:buChar char="Ø"/>
            </a:pPr>
            <a:r>
              <a:rPr lang="en-IN" dirty="0" smtClean="0"/>
              <a:t> Zeiss </a:t>
            </a:r>
            <a:r>
              <a:rPr lang="en-IN" dirty="0" err="1"/>
              <a:t>Xradia</a:t>
            </a:r>
            <a:r>
              <a:rPr lang="en-IN" dirty="0"/>
              <a:t> 510 Versa </a:t>
            </a:r>
          </a:p>
          <a:p>
            <a:pPr>
              <a:buFont typeface="Wingdings" panose="05000000000000000000" pitchFamily="2" charset="2"/>
              <a:buChar char="Ø"/>
            </a:pPr>
            <a:r>
              <a:rPr lang="en-IN" dirty="0" smtClean="0"/>
              <a:t> Curve </a:t>
            </a:r>
            <a:r>
              <a:rPr lang="en-IN" dirty="0"/>
              <a:t>Tracing </a:t>
            </a:r>
          </a:p>
          <a:p>
            <a:pPr>
              <a:buFont typeface="Wingdings" panose="05000000000000000000" pitchFamily="2" charset="2"/>
              <a:buChar char="Ø"/>
            </a:pPr>
            <a:r>
              <a:rPr lang="en-IN" dirty="0"/>
              <a:t> Physical </a:t>
            </a:r>
            <a:r>
              <a:rPr lang="en-IN" dirty="0" smtClean="0"/>
              <a:t>Tests         </a:t>
            </a:r>
            <a:endParaRPr lang="en-IN" dirty="0"/>
          </a:p>
          <a:p>
            <a:pPr>
              <a:buFont typeface="Wingdings" panose="05000000000000000000" pitchFamily="2" charset="2"/>
              <a:buChar char="Ø"/>
            </a:pPr>
            <a:r>
              <a:rPr lang="en-IN" dirty="0"/>
              <a:t> </a:t>
            </a:r>
            <a:r>
              <a:rPr lang="en-IN" dirty="0" smtClean="0"/>
              <a:t>Watermarking </a:t>
            </a:r>
            <a:endParaRPr lang="en-IN" dirty="0"/>
          </a:p>
          <a:p>
            <a:pPr>
              <a:buFont typeface="Wingdings" panose="05000000000000000000" pitchFamily="2" charset="2"/>
              <a:buChar char="Ø"/>
            </a:pPr>
            <a:r>
              <a:rPr lang="en-IN" dirty="0" smtClean="0"/>
              <a:t> DNA </a:t>
            </a:r>
            <a:r>
              <a:rPr lang="en-IN" dirty="0"/>
              <a:t>marking</a:t>
            </a:r>
          </a:p>
          <a:p>
            <a:pPr>
              <a:buFont typeface="Wingdings" panose="05000000000000000000" pitchFamily="2" charset="2"/>
              <a:buChar char="Ø"/>
            </a:pPr>
            <a:r>
              <a:rPr lang="en-IN" dirty="0" smtClean="0"/>
              <a:t> Basic </a:t>
            </a:r>
            <a:r>
              <a:rPr lang="en-IN" dirty="0"/>
              <a:t>Image processing approaches</a:t>
            </a:r>
          </a:p>
          <a:p>
            <a:pPr>
              <a:buFont typeface="Wingdings" panose="05000000000000000000" pitchFamily="2" charset="2"/>
              <a:buChar char="Ø"/>
            </a:pPr>
            <a:endParaRPr lang="en-IN" dirty="0"/>
          </a:p>
          <a:p>
            <a:pPr>
              <a:buFont typeface="Wingdings" panose="05000000000000000000" pitchFamily="2" charset="2"/>
              <a:buChar char="Ø"/>
            </a:pPr>
            <a:endParaRPr lang="en-IN" dirty="0"/>
          </a:p>
        </p:txBody>
      </p:sp>
      <p:pic>
        <p:nvPicPr>
          <p:cNvPr id="5" name="Picture 4" descr="A desktop computer sitting on a desk&#10;&#10;Description generated with very high confidence">
            <a:extLst>
              <a:ext uri="{FF2B5EF4-FFF2-40B4-BE49-F238E27FC236}">
                <a16:creationId xmlns:a16="http://schemas.microsoft.com/office/drawing/2014/main" xmlns="" id="{4B08250C-BEA8-460D-84F2-358D349C1218}"/>
              </a:ext>
            </a:extLst>
          </p:cNvPr>
          <p:cNvPicPr>
            <a:picLocks noChangeAspect="1"/>
          </p:cNvPicPr>
          <p:nvPr/>
        </p:nvPicPr>
        <p:blipFill>
          <a:blip r:embed="rId2"/>
          <a:stretch>
            <a:fillRect/>
          </a:stretch>
        </p:blipFill>
        <p:spPr>
          <a:xfrm>
            <a:off x="4781149" y="944411"/>
            <a:ext cx="1491853" cy="1172585"/>
          </a:xfrm>
          <a:prstGeom prst="rect">
            <a:avLst/>
          </a:prstGeom>
        </p:spPr>
      </p:pic>
      <p:pic>
        <p:nvPicPr>
          <p:cNvPr id="7" name="Picture 6" descr="A picture containing indoor, floor, wall, room&#10;&#10;Description generated with very high confidence">
            <a:extLst>
              <a:ext uri="{FF2B5EF4-FFF2-40B4-BE49-F238E27FC236}">
                <a16:creationId xmlns:a16="http://schemas.microsoft.com/office/drawing/2014/main" xmlns="" id="{5D55A374-4268-4EDF-B9CC-48C9F3A443F0}"/>
              </a:ext>
            </a:extLst>
          </p:cNvPr>
          <p:cNvPicPr>
            <a:picLocks noChangeAspect="1"/>
          </p:cNvPicPr>
          <p:nvPr/>
        </p:nvPicPr>
        <p:blipFill>
          <a:blip r:embed="rId3"/>
          <a:stretch>
            <a:fillRect/>
          </a:stretch>
        </p:blipFill>
        <p:spPr>
          <a:xfrm>
            <a:off x="6483975" y="949481"/>
            <a:ext cx="1634006" cy="1187780"/>
          </a:xfrm>
          <a:prstGeom prst="rect">
            <a:avLst/>
          </a:prstGeom>
        </p:spPr>
      </p:pic>
      <p:pic>
        <p:nvPicPr>
          <p:cNvPr id="9" name="Picture 8" descr="A close up of electronics&#10;&#10;Description generated with high confidence">
            <a:extLst>
              <a:ext uri="{FF2B5EF4-FFF2-40B4-BE49-F238E27FC236}">
                <a16:creationId xmlns:a16="http://schemas.microsoft.com/office/drawing/2014/main" xmlns="" id="{E9CD58AF-40C0-496B-9B4A-22CC6F62FBE8}"/>
              </a:ext>
            </a:extLst>
          </p:cNvPr>
          <p:cNvPicPr>
            <a:picLocks noChangeAspect="1"/>
          </p:cNvPicPr>
          <p:nvPr/>
        </p:nvPicPr>
        <p:blipFill>
          <a:blip r:embed="rId4"/>
          <a:stretch>
            <a:fillRect/>
          </a:stretch>
        </p:blipFill>
        <p:spPr>
          <a:xfrm>
            <a:off x="8278939" y="949481"/>
            <a:ext cx="1219606" cy="1406961"/>
          </a:xfrm>
          <a:prstGeom prst="rect">
            <a:avLst/>
          </a:prstGeom>
        </p:spPr>
      </p:pic>
      <p:pic>
        <p:nvPicPr>
          <p:cNvPr id="11" name="Picture 10" descr="A star in the background&#10;&#10;Description generated with high confidence">
            <a:extLst>
              <a:ext uri="{FF2B5EF4-FFF2-40B4-BE49-F238E27FC236}">
                <a16:creationId xmlns:a16="http://schemas.microsoft.com/office/drawing/2014/main" xmlns="" id="{E90753EF-D75A-451B-B87D-36D77A7576C5}"/>
              </a:ext>
            </a:extLst>
          </p:cNvPr>
          <p:cNvPicPr>
            <a:picLocks noChangeAspect="1"/>
          </p:cNvPicPr>
          <p:nvPr/>
        </p:nvPicPr>
        <p:blipFill>
          <a:blip r:embed="rId5"/>
          <a:stretch>
            <a:fillRect/>
          </a:stretch>
        </p:blipFill>
        <p:spPr>
          <a:xfrm>
            <a:off x="9638145" y="949481"/>
            <a:ext cx="2553855" cy="3045371"/>
          </a:xfrm>
          <a:prstGeom prst="rect">
            <a:avLst/>
          </a:prstGeom>
        </p:spPr>
      </p:pic>
      <p:pic>
        <p:nvPicPr>
          <p:cNvPr id="13" name="Picture 12" descr="A picture containing cake, piece, indoor, sitting&#10;&#10;Description generated with very high confidence">
            <a:extLst>
              <a:ext uri="{FF2B5EF4-FFF2-40B4-BE49-F238E27FC236}">
                <a16:creationId xmlns:a16="http://schemas.microsoft.com/office/drawing/2014/main" xmlns="" id="{0D59B721-3B04-4511-AB9C-42F95EC03309}"/>
              </a:ext>
            </a:extLst>
          </p:cNvPr>
          <p:cNvPicPr>
            <a:picLocks noChangeAspect="1"/>
          </p:cNvPicPr>
          <p:nvPr/>
        </p:nvPicPr>
        <p:blipFill>
          <a:blip r:embed="rId6"/>
          <a:stretch>
            <a:fillRect/>
          </a:stretch>
        </p:blipFill>
        <p:spPr>
          <a:xfrm>
            <a:off x="4855094" y="2270328"/>
            <a:ext cx="2016761" cy="1568592"/>
          </a:xfrm>
          <a:prstGeom prst="rect">
            <a:avLst/>
          </a:prstGeom>
        </p:spPr>
      </p:pic>
      <p:pic>
        <p:nvPicPr>
          <p:cNvPr id="15" name="Picture 14" descr="A close up of a rock&#10;&#10;Description generated with very high confidence">
            <a:extLst>
              <a:ext uri="{FF2B5EF4-FFF2-40B4-BE49-F238E27FC236}">
                <a16:creationId xmlns:a16="http://schemas.microsoft.com/office/drawing/2014/main" xmlns="" id="{5EE93AB0-B1CE-44D8-9155-A7A6CEDAA3ED}"/>
              </a:ext>
            </a:extLst>
          </p:cNvPr>
          <p:cNvPicPr>
            <a:picLocks noChangeAspect="1"/>
          </p:cNvPicPr>
          <p:nvPr/>
        </p:nvPicPr>
        <p:blipFill>
          <a:blip r:embed="rId7"/>
          <a:stretch>
            <a:fillRect/>
          </a:stretch>
        </p:blipFill>
        <p:spPr>
          <a:xfrm>
            <a:off x="7153544" y="2499959"/>
            <a:ext cx="1808951" cy="1406962"/>
          </a:xfrm>
          <a:prstGeom prst="rect">
            <a:avLst/>
          </a:prstGeom>
        </p:spPr>
      </p:pic>
      <p:pic>
        <p:nvPicPr>
          <p:cNvPr id="17" name="Picture 16">
            <a:extLst>
              <a:ext uri="{FF2B5EF4-FFF2-40B4-BE49-F238E27FC236}">
                <a16:creationId xmlns:a16="http://schemas.microsoft.com/office/drawing/2014/main" xmlns="" id="{B1F85437-68E7-449C-88D5-133464D21F63}"/>
              </a:ext>
            </a:extLst>
          </p:cNvPr>
          <p:cNvPicPr>
            <a:picLocks noChangeAspect="1"/>
          </p:cNvPicPr>
          <p:nvPr/>
        </p:nvPicPr>
        <p:blipFill>
          <a:blip r:embed="rId8"/>
          <a:stretch>
            <a:fillRect/>
          </a:stretch>
        </p:blipFill>
        <p:spPr>
          <a:xfrm>
            <a:off x="6577999" y="4086115"/>
            <a:ext cx="3984171" cy="1344386"/>
          </a:xfrm>
          <a:prstGeom prst="rect">
            <a:avLst/>
          </a:prstGeom>
        </p:spPr>
      </p:pic>
      <p:pic>
        <p:nvPicPr>
          <p:cNvPr id="19" name="Picture 18">
            <a:extLst>
              <a:ext uri="{FF2B5EF4-FFF2-40B4-BE49-F238E27FC236}">
                <a16:creationId xmlns:a16="http://schemas.microsoft.com/office/drawing/2014/main" xmlns="" id="{85978091-B47C-4C75-B500-91637109D87F}"/>
              </a:ext>
            </a:extLst>
          </p:cNvPr>
          <p:cNvPicPr>
            <a:picLocks noChangeAspect="1"/>
          </p:cNvPicPr>
          <p:nvPr/>
        </p:nvPicPr>
        <p:blipFill>
          <a:blip r:embed="rId9"/>
          <a:stretch>
            <a:fillRect/>
          </a:stretch>
        </p:blipFill>
        <p:spPr>
          <a:xfrm>
            <a:off x="7300978" y="5513613"/>
            <a:ext cx="4674333" cy="1024758"/>
          </a:xfrm>
          <a:prstGeom prst="rect">
            <a:avLst/>
          </a:prstGeom>
        </p:spPr>
      </p:pic>
    </p:spTree>
    <p:extLst>
      <p:ext uri="{BB962C8B-B14F-4D97-AF65-F5344CB8AC3E}">
        <p14:creationId xmlns:p14="http://schemas.microsoft.com/office/powerpoint/2010/main" val="3791756930"/>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EB5DE60-105E-4009-99E9-3EC1D8C23D1E}"/>
              </a:ext>
            </a:extLst>
          </p:cNvPr>
          <p:cNvSpPr>
            <a:spLocks noGrp="1"/>
          </p:cNvSpPr>
          <p:nvPr>
            <p:ph type="title"/>
          </p:nvPr>
        </p:nvSpPr>
        <p:spPr/>
        <p:txBody>
          <a:bodyPr/>
          <a:lstStyle/>
          <a:p>
            <a:pPr algn="ctr"/>
            <a:r>
              <a:rPr lang="en-IN" dirty="0"/>
              <a:t>WORK DONE</a:t>
            </a:r>
          </a:p>
        </p:txBody>
      </p:sp>
      <p:sp>
        <p:nvSpPr>
          <p:cNvPr id="3" name="Content Placeholder 2">
            <a:extLst>
              <a:ext uri="{FF2B5EF4-FFF2-40B4-BE49-F238E27FC236}">
                <a16:creationId xmlns:a16="http://schemas.microsoft.com/office/drawing/2014/main" xmlns="" id="{604CDF00-82BE-48FF-80D1-CFE26FC6164D}"/>
              </a:ext>
            </a:extLst>
          </p:cNvPr>
          <p:cNvSpPr>
            <a:spLocks noGrp="1"/>
          </p:cNvSpPr>
          <p:nvPr>
            <p:ph idx="1"/>
          </p:nvPr>
        </p:nvSpPr>
        <p:spPr>
          <a:xfrm>
            <a:off x="1141412" y="2249486"/>
            <a:ext cx="9905999" cy="3989995"/>
          </a:xfrm>
        </p:spPr>
        <p:txBody>
          <a:bodyPr>
            <a:normAutofit/>
          </a:bodyPr>
          <a:lstStyle/>
          <a:p>
            <a:pPr>
              <a:buFont typeface="Wingdings" panose="05000000000000000000" pitchFamily="2" charset="2"/>
              <a:buChar char="Ø"/>
            </a:pPr>
            <a:r>
              <a:rPr lang="en-IN" dirty="0" smtClean="0"/>
              <a:t> Primarily </a:t>
            </a:r>
            <a:r>
              <a:rPr lang="en-IN" dirty="0"/>
              <a:t>we tried basic image processing techniques to detect and extract pins of an IC from it’s </a:t>
            </a:r>
            <a:r>
              <a:rPr lang="en-IN" dirty="0" smtClean="0"/>
              <a:t>image</a:t>
            </a:r>
            <a:endParaRPr lang="en-IN" dirty="0"/>
          </a:p>
          <a:p>
            <a:pPr>
              <a:buFont typeface="Wingdings" panose="05000000000000000000" pitchFamily="2" charset="2"/>
              <a:buChar char="Ø"/>
            </a:pPr>
            <a:r>
              <a:rPr lang="en-IN" dirty="0" smtClean="0"/>
              <a:t> But </a:t>
            </a:r>
            <a:r>
              <a:rPr lang="en-IN" dirty="0"/>
              <a:t>what we felt it is time consuming and complex to develop </a:t>
            </a:r>
            <a:r>
              <a:rPr lang="en-IN" dirty="0" smtClean="0"/>
              <a:t>mathematically</a:t>
            </a:r>
            <a:endParaRPr lang="en-IN" dirty="0"/>
          </a:p>
          <a:p>
            <a:pPr>
              <a:buFont typeface="Wingdings" panose="05000000000000000000" pitchFamily="2" charset="2"/>
              <a:buChar char="Ø"/>
            </a:pPr>
            <a:r>
              <a:rPr lang="en-IN" dirty="0" smtClean="0"/>
              <a:t> So </a:t>
            </a:r>
            <a:r>
              <a:rPr lang="en-IN" dirty="0"/>
              <a:t>we tried mask based segmentation and it needed us to develop mask for each ICs differently which is not </a:t>
            </a:r>
            <a:r>
              <a:rPr lang="en-IN" dirty="0" smtClean="0"/>
              <a:t>intended</a:t>
            </a:r>
          </a:p>
          <a:p>
            <a:pPr>
              <a:buFont typeface="Wingdings" panose="05000000000000000000" pitchFamily="2" charset="2"/>
              <a:buChar char="Ø"/>
            </a:pPr>
            <a:r>
              <a:rPr lang="en-IN" dirty="0" smtClean="0"/>
              <a:t> That is why we realized a need for much simpler and computationally efficient deep learning based method for IC classification</a:t>
            </a:r>
            <a:endParaRPr lang="en-IN" dirty="0"/>
          </a:p>
        </p:txBody>
      </p:sp>
    </p:spTree>
    <p:extLst>
      <p:ext uri="{BB962C8B-B14F-4D97-AF65-F5344CB8AC3E}">
        <p14:creationId xmlns:p14="http://schemas.microsoft.com/office/powerpoint/2010/main" val="2068786784"/>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IN" dirty="0" smtClean="0"/>
              <a:t>Pin feature DETECTION AND EXTRACTION</a:t>
            </a:r>
            <a:endParaRPr lang="en-US" dirty="0"/>
          </a:p>
        </p:txBody>
      </p:sp>
      <p:sp>
        <p:nvSpPr>
          <p:cNvPr id="3" name="Content Placeholder 2"/>
          <p:cNvSpPr>
            <a:spLocks noGrp="1"/>
          </p:cNvSpPr>
          <p:nvPr>
            <p:ph idx="1"/>
          </p:nvPr>
        </p:nvSpPr>
        <p:spPr/>
        <p:txBody>
          <a:bodyPr>
            <a:normAutofit/>
          </a:bodyPr>
          <a:lstStyle/>
          <a:p>
            <a:pPr>
              <a:buFont typeface="Wingdings" panose="05000000000000000000" pitchFamily="2" charset="2"/>
              <a:buChar char="Ø"/>
            </a:pPr>
            <a:r>
              <a:rPr lang="en-IN" dirty="0" smtClean="0"/>
              <a:t> IC Image is acquired in various orientation using an Optical Microscope</a:t>
            </a:r>
          </a:p>
          <a:p>
            <a:pPr>
              <a:buFont typeface="Wingdings" panose="05000000000000000000" pitchFamily="2" charset="2"/>
              <a:buChar char="Ø"/>
            </a:pPr>
            <a:r>
              <a:rPr lang="en-IN" dirty="0"/>
              <a:t> </a:t>
            </a:r>
            <a:r>
              <a:rPr lang="en-IN" dirty="0" smtClean="0"/>
              <a:t>Feature extraction is done by two methods:</a:t>
            </a:r>
          </a:p>
          <a:p>
            <a:pPr lvl="1">
              <a:buFont typeface="Wingdings" panose="05000000000000000000" pitchFamily="2" charset="2"/>
              <a:buChar char="q"/>
            </a:pPr>
            <a:r>
              <a:rPr lang="en-IN" dirty="0" smtClean="0"/>
              <a:t> </a:t>
            </a:r>
            <a:r>
              <a:rPr lang="en-IN" b="1" dirty="0" smtClean="0"/>
              <a:t>Point Feature Matching: </a:t>
            </a:r>
            <a:r>
              <a:rPr lang="en-IN" dirty="0" smtClean="0"/>
              <a:t>This method matches the most significant feature points in the pin image and tries to match it with the significant points in the IC image</a:t>
            </a:r>
            <a:endParaRPr lang="en-IN" dirty="0"/>
          </a:p>
          <a:p>
            <a:pPr lvl="1">
              <a:buFont typeface="Wingdings" panose="05000000000000000000" pitchFamily="2" charset="2"/>
              <a:buChar char="q"/>
            </a:pPr>
            <a:r>
              <a:rPr lang="en-IN" dirty="0" smtClean="0"/>
              <a:t> </a:t>
            </a:r>
            <a:r>
              <a:rPr lang="en-IN" b="1" dirty="0" smtClean="0"/>
              <a:t>Mask Based Segmentation: </a:t>
            </a:r>
            <a:r>
              <a:rPr lang="en-IN" dirty="0" smtClean="0"/>
              <a:t>A mask is made by a predefined processing pipeline which is then used to segment the IC image using the Image </a:t>
            </a:r>
            <a:r>
              <a:rPr lang="en-IN" dirty="0" err="1" smtClean="0"/>
              <a:t>Segmenter</a:t>
            </a:r>
            <a:r>
              <a:rPr lang="en-IN" dirty="0" smtClean="0"/>
              <a:t> App in MATLAB</a:t>
            </a:r>
          </a:p>
          <a:p>
            <a:pPr>
              <a:buFont typeface="Wingdings" panose="05000000000000000000" pitchFamily="2" charset="2"/>
              <a:buChar char="Ø"/>
            </a:pPr>
            <a:r>
              <a:rPr lang="en-IN" dirty="0"/>
              <a:t> </a:t>
            </a:r>
            <a:r>
              <a:rPr lang="en-IN" dirty="0" smtClean="0"/>
              <a:t>Both of the methods are based on basic image processing techniques </a:t>
            </a:r>
            <a:endParaRPr lang="en-US" dirty="0"/>
          </a:p>
        </p:txBody>
      </p:sp>
    </p:spTree>
    <p:extLst>
      <p:ext uri="{BB962C8B-B14F-4D97-AF65-F5344CB8AC3E}">
        <p14:creationId xmlns:p14="http://schemas.microsoft.com/office/powerpoint/2010/main" val="1341343622"/>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99DE55B-9E3D-45E1-8947-8B97A1186CAF}"/>
              </a:ext>
            </a:extLst>
          </p:cNvPr>
          <p:cNvSpPr>
            <a:spLocks noGrp="1"/>
          </p:cNvSpPr>
          <p:nvPr>
            <p:ph type="title"/>
          </p:nvPr>
        </p:nvSpPr>
        <p:spPr>
          <a:xfrm>
            <a:off x="1141411" y="175491"/>
            <a:ext cx="9906000" cy="891312"/>
          </a:xfrm>
        </p:spPr>
        <p:txBody>
          <a:bodyPr/>
          <a:lstStyle/>
          <a:p>
            <a:pPr algn="ctr"/>
            <a:r>
              <a:rPr lang="en-IN" dirty="0"/>
              <a:t>Results</a:t>
            </a:r>
          </a:p>
        </p:txBody>
      </p:sp>
      <p:pic>
        <p:nvPicPr>
          <p:cNvPr id="9" name="Content Placeholder 8">
            <a:extLst>
              <a:ext uri="{FF2B5EF4-FFF2-40B4-BE49-F238E27FC236}">
                <a16:creationId xmlns:a16="http://schemas.microsoft.com/office/drawing/2014/main" xmlns="" id="{011FE912-0F7E-481A-B4DE-366CA58E824E}"/>
              </a:ext>
            </a:extLst>
          </p:cNvPr>
          <p:cNvPicPr>
            <a:picLocks noGrp="1" noChangeAspect="1"/>
          </p:cNvPicPr>
          <p:nvPr>
            <p:ph sz="half" idx="2"/>
          </p:nvPr>
        </p:nvPicPr>
        <p:blipFill>
          <a:blip r:embed="rId2"/>
          <a:stretch>
            <a:fillRect/>
          </a:stretch>
        </p:blipFill>
        <p:spPr>
          <a:xfrm>
            <a:off x="669013" y="1775744"/>
            <a:ext cx="4953000" cy="1658027"/>
          </a:xfrm>
        </p:spPr>
      </p:pic>
      <p:pic>
        <p:nvPicPr>
          <p:cNvPr id="11" name="Content Placeholder 10">
            <a:extLst>
              <a:ext uri="{FF2B5EF4-FFF2-40B4-BE49-F238E27FC236}">
                <a16:creationId xmlns:a16="http://schemas.microsoft.com/office/drawing/2014/main" xmlns="" id="{A2B222A9-9D9D-4195-B99F-E93F18DA32F1}"/>
              </a:ext>
            </a:extLst>
          </p:cNvPr>
          <p:cNvPicPr>
            <a:picLocks noGrp="1" noChangeAspect="1"/>
          </p:cNvPicPr>
          <p:nvPr>
            <p:ph sz="quarter" idx="4"/>
          </p:nvPr>
        </p:nvPicPr>
        <p:blipFill>
          <a:blip r:embed="rId3"/>
          <a:stretch>
            <a:fillRect/>
          </a:stretch>
        </p:blipFill>
        <p:spPr>
          <a:xfrm>
            <a:off x="670600" y="3812060"/>
            <a:ext cx="4951413" cy="1879177"/>
          </a:xfrm>
        </p:spPr>
      </p:pic>
      <p:sp>
        <p:nvSpPr>
          <p:cNvPr id="10" name="Text Placeholder 3">
            <a:extLst>
              <a:ext uri="{FF2B5EF4-FFF2-40B4-BE49-F238E27FC236}">
                <a16:creationId xmlns:a16="http://schemas.microsoft.com/office/drawing/2014/main" xmlns="" id="{C691155D-DB63-48FE-9B08-018122239A8A}"/>
              </a:ext>
            </a:extLst>
          </p:cNvPr>
          <p:cNvSpPr txBox="1">
            <a:spLocks/>
          </p:cNvSpPr>
          <p:nvPr/>
        </p:nvSpPr>
        <p:spPr>
          <a:xfrm>
            <a:off x="820621" y="911724"/>
            <a:ext cx="4649783" cy="891312"/>
          </a:xfrm>
          <a:prstGeom prst="rect">
            <a:avLst/>
          </a:prstGeom>
        </p:spPr>
        <p:txBody>
          <a:bodyPr vert="horz" lIns="91440" tIns="45720" rIns="91440" bIns="45720" rtlCol="0" anchor="ctr">
            <a:normAutofit/>
          </a:bodyPr>
          <a:lstStyle>
            <a:lvl1pPr marL="0" indent="0" algn="l" defTabSz="914400" rtl="0" eaLnBrk="1" latinLnBrk="0" hangingPunct="1">
              <a:lnSpc>
                <a:spcPct val="90000"/>
              </a:lnSpc>
              <a:spcBef>
                <a:spcPts val="1000"/>
              </a:spcBef>
              <a:buSzPct val="125000"/>
              <a:buFont typeface="Arial" panose="020B0604020202020204" pitchFamily="34" charset="0"/>
              <a:buNone/>
              <a:defRPr sz="2400" b="0" kern="1200" cap="all" baseline="0">
                <a:solidFill>
                  <a:schemeClr val="tx1"/>
                </a:solidFill>
                <a:latin typeface="+mn-lt"/>
                <a:ea typeface="+mn-ea"/>
                <a:cs typeface="+mn-cs"/>
              </a:defRPr>
            </a:lvl1pPr>
            <a:lvl2pPr marL="457200" indent="0" algn="l" defTabSz="914400" rtl="0" eaLnBrk="1" latinLnBrk="0" hangingPunct="1">
              <a:lnSpc>
                <a:spcPct val="120000"/>
              </a:lnSpc>
              <a:spcBef>
                <a:spcPts val="500"/>
              </a:spcBef>
              <a:buSzPct val="125000"/>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0" hangingPunct="1">
              <a:lnSpc>
                <a:spcPct val="120000"/>
              </a:lnSpc>
              <a:spcBef>
                <a:spcPts val="500"/>
              </a:spcBef>
              <a:buSzPct val="125000"/>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0" hangingPunct="1">
              <a:lnSpc>
                <a:spcPct val="120000"/>
              </a:lnSpc>
              <a:spcBef>
                <a:spcPts val="500"/>
              </a:spcBef>
              <a:buSzPct val="125000"/>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0" hangingPunct="1">
              <a:lnSpc>
                <a:spcPct val="120000"/>
              </a:lnSpc>
              <a:spcBef>
                <a:spcPts val="500"/>
              </a:spcBef>
              <a:buSzPct val="125000"/>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0" hangingPunct="1">
              <a:lnSpc>
                <a:spcPct val="120000"/>
              </a:lnSpc>
              <a:spcBef>
                <a:spcPts val="500"/>
              </a:spcBef>
              <a:buSzPct val="125000"/>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120000"/>
              </a:lnSpc>
              <a:spcBef>
                <a:spcPts val="500"/>
              </a:spcBef>
              <a:buSzPct val="125000"/>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120000"/>
              </a:lnSpc>
              <a:spcBef>
                <a:spcPts val="500"/>
              </a:spcBef>
              <a:buSzPct val="125000"/>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120000"/>
              </a:lnSpc>
              <a:spcBef>
                <a:spcPts val="500"/>
              </a:spcBef>
              <a:buSzPct val="125000"/>
              <a:buFont typeface="Arial" panose="020B0604020202020204" pitchFamily="34" charset="0"/>
              <a:buNone/>
              <a:defRPr sz="1600" b="1" kern="1200">
                <a:solidFill>
                  <a:schemeClr val="tx1"/>
                </a:solidFill>
                <a:latin typeface="+mn-lt"/>
                <a:ea typeface="+mn-ea"/>
                <a:cs typeface="+mn-cs"/>
              </a:defRPr>
            </a:lvl9pPr>
          </a:lstStyle>
          <a:p>
            <a:pPr algn="ctr"/>
            <a:r>
              <a:rPr lang="en-IN" dirty="0" smtClean="0"/>
              <a:t>Masked based segmentation</a:t>
            </a:r>
            <a:endParaRPr lang="en-IN" dirty="0"/>
          </a:p>
        </p:txBody>
      </p:sp>
      <p:sp>
        <p:nvSpPr>
          <p:cNvPr id="12" name="Text Placeholder 3">
            <a:extLst>
              <a:ext uri="{FF2B5EF4-FFF2-40B4-BE49-F238E27FC236}">
                <a16:creationId xmlns:a16="http://schemas.microsoft.com/office/drawing/2014/main" xmlns="" id="{C691155D-DB63-48FE-9B08-018122239A8A}"/>
              </a:ext>
            </a:extLst>
          </p:cNvPr>
          <p:cNvSpPr txBox="1">
            <a:spLocks/>
          </p:cNvSpPr>
          <p:nvPr/>
        </p:nvSpPr>
        <p:spPr>
          <a:xfrm>
            <a:off x="6991166" y="884432"/>
            <a:ext cx="4649783" cy="891312"/>
          </a:xfrm>
          <a:prstGeom prst="rect">
            <a:avLst/>
          </a:prstGeom>
        </p:spPr>
        <p:txBody>
          <a:bodyPr vert="horz" lIns="91440" tIns="45720" rIns="91440" bIns="45720" rtlCol="0" anchor="ctr">
            <a:normAutofit/>
          </a:bodyPr>
          <a:lstStyle>
            <a:lvl1pPr marL="0" indent="0" algn="l" defTabSz="914400" rtl="0" eaLnBrk="1" latinLnBrk="0" hangingPunct="1">
              <a:lnSpc>
                <a:spcPct val="90000"/>
              </a:lnSpc>
              <a:spcBef>
                <a:spcPts val="1000"/>
              </a:spcBef>
              <a:buSzPct val="125000"/>
              <a:buFont typeface="Arial" panose="020B0604020202020204" pitchFamily="34" charset="0"/>
              <a:buNone/>
              <a:defRPr sz="2400" b="0" kern="1200" cap="all" baseline="0">
                <a:solidFill>
                  <a:schemeClr val="tx1"/>
                </a:solidFill>
                <a:latin typeface="+mn-lt"/>
                <a:ea typeface="+mn-ea"/>
                <a:cs typeface="+mn-cs"/>
              </a:defRPr>
            </a:lvl1pPr>
            <a:lvl2pPr marL="457200" indent="0" algn="l" defTabSz="914400" rtl="0" eaLnBrk="1" latinLnBrk="0" hangingPunct="1">
              <a:lnSpc>
                <a:spcPct val="120000"/>
              </a:lnSpc>
              <a:spcBef>
                <a:spcPts val="500"/>
              </a:spcBef>
              <a:buSzPct val="125000"/>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0" hangingPunct="1">
              <a:lnSpc>
                <a:spcPct val="120000"/>
              </a:lnSpc>
              <a:spcBef>
                <a:spcPts val="500"/>
              </a:spcBef>
              <a:buSzPct val="125000"/>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0" hangingPunct="1">
              <a:lnSpc>
                <a:spcPct val="120000"/>
              </a:lnSpc>
              <a:spcBef>
                <a:spcPts val="500"/>
              </a:spcBef>
              <a:buSzPct val="125000"/>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0" hangingPunct="1">
              <a:lnSpc>
                <a:spcPct val="120000"/>
              </a:lnSpc>
              <a:spcBef>
                <a:spcPts val="500"/>
              </a:spcBef>
              <a:buSzPct val="125000"/>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0" hangingPunct="1">
              <a:lnSpc>
                <a:spcPct val="120000"/>
              </a:lnSpc>
              <a:spcBef>
                <a:spcPts val="500"/>
              </a:spcBef>
              <a:buSzPct val="125000"/>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120000"/>
              </a:lnSpc>
              <a:spcBef>
                <a:spcPts val="500"/>
              </a:spcBef>
              <a:buSzPct val="125000"/>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120000"/>
              </a:lnSpc>
              <a:spcBef>
                <a:spcPts val="500"/>
              </a:spcBef>
              <a:buSzPct val="125000"/>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120000"/>
              </a:lnSpc>
              <a:spcBef>
                <a:spcPts val="500"/>
              </a:spcBef>
              <a:buSzPct val="125000"/>
              <a:buFont typeface="Arial" panose="020B0604020202020204" pitchFamily="34" charset="0"/>
              <a:buNone/>
              <a:defRPr sz="1600" b="1" kern="1200">
                <a:solidFill>
                  <a:schemeClr val="tx1"/>
                </a:solidFill>
                <a:latin typeface="+mn-lt"/>
                <a:ea typeface="+mn-ea"/>
                <a:cs typeface="+mn-cs"/>
              </a:defRPr>
            </a:lvl9pPr>
          </a:lstStyle>
          <a:p>
            <a:pPr algn="ctr"/>
            <a:r>
              <a:rPr lang="en-IN" dirty="0" smtClean="0"/>
              <a:t>Point feature matching</a:t>
            </a:r>
            <a:endParaRPr lang="en-IN" dirty="0"/>
          </a:p>
        </p:txBody>
      </p:sp>
      <p:pic>
        <p:nvPicPr>
          <p:cNvPr id="14" name="Picture 13"/>
          <p:cNvPicPr/>
          <p:nvPr/>
        </p:nvPicPr>
        <p:blipFill rotWithShape="1">
          <a:blip r:embed="rId4">
            <a:extLst>
              <a:ext uri="{28A0092B-C50C-407E-A947-70E740481C1C}">
                <a14:useLocalDpi xmlns:a14="http://schemas.microsoft.com/office/drawing/2010/main" val="0"/>
              </a:ext>
            </a:extLst>
          </a:blip>
          <a:srcRect l="7371" r="7212" b="14946"/>
          <a:stretch/>
        </p:blipFill>
        <p:spPr bwMode="auto">
          <a:xfrm>
            <a:off x="6692077" y="1647956"/>
            <a:ext cx="5076825" cy="1857375"/>
          </a:xfrm>
          <a:prstGeom prst="rect">
            <a:avLst/>
          </a:prstGeom>
          <a:ln>
            <a:noFill/>
          </a:ln>
          <a:extLst>
            <a:ext uri="{53640926-AAD7-44D8-BBD7-CCE9431645EC}">
              <a14:shadowObscured xmlns:a14="http://schemas.microsoft.com/office/drawing/2010/main"/>
            </a:ext>
          </a:extLst>
        </p:spPr>
      </p:pic>
      <p:pic>
        <p:nvPicPr>
          <p:cNvPr id="16" name="Picture 15"/>
          <p:cNvPicPr/>
          <p:nvPr/>
        </p:nvPicPr>
        <p:blipFill rotWithShape="1">
          <a:blip r:embed="rId5">
            <a:extLst>
              <a:ext uri="{28A0092B-C50C-407E-A947-70E740481C1C}">
                <a14:useLocalDpi xmlns:a14="http://schemas.microsoft.com/office/drawing/2010/main" val="0"/>
              </a:ext>
            </a:extLst>
          </a:blip>
          <a:srcRect l="9134" r="8975" b="10950"/>
          <a:stretch/>
        </p:blipFill>
        <p:spPr bwMode="auto">
          <a:xfrm>
            <a:off x="7570352" y="3812060"/>
            <a:ext cx="3491410" cy="2350684"/>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2224623273"/>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IN" dirty="0" smtClean="0"/>
              <a:t>Challenges faced</a:t>
            </a:r>
            <a:endParaRPr lang="en-US" dirty="0"/>
          </a:p>
        </p:txBody>
      </p:sp>
      <p:sp>
        <p:nvSpPr>
          <p:cNvPr id="3" name="Content Placeholder 2"/>
          <p:cNvSpPr>
            <a:spLocks noGrp="1"/>
          </p:cNvSpPr>
          <p:nvPr>
            <p:ph idx="1"/>
          </p:nvPr>
        </p:nvSpPr>
        <p:spPr/>
        <p:txBody>
          <a:bodyPr/>
          <a:lstStyle/>
          <a:p>
            <a:pPr>
              <a:buFont typeface="Wingdings" panose="05000000000000000000" pitchFamily="2" charset="2"/>
              <a:buChar char="Ø"/>
            </a:pPr>
            <a:r>
              <a:rPr lang="en-IN" dirty="0" smtClean="0"/>
              <a:t> Not computationally efficient and rigorous in nature</a:t>
            </a:r>
          </a:p>
          <a:p>
            <a:pPr>
              <a:buFont typeface="Wingdings" panose="05000000000000000000" pitchFamily="2" charset="2"/>
              <a:buChar char="Ø"/>
            </a:pPr>
            <a:r>
              <a:rPr lang="en-IN" dirty="0"/>
              <a:t> </a:t>
            </a:r>
            <a:r>
              <a:rPr lang="en-IN" dirty="0" smtClean="0"/>
              <a:t>Masks are very difficult to make</a:t>
            </a:r>
          </a:p>
          <a:p>
            <a:pPr>
              <a:buFont typeface="Wingdings" panose="05000000000000000000" pitchFamily="2" charset="2"/>
              <a:buChar char="Ø"/>
            </a:pPr>
            <a:r>
              <a:rPr lang="en-IN" dirty="0"/>
              <a:t> </a:t>
            </a:r>
            <a:r>
              <a:rPr lang="en-IN" dirty="0" smtClean="0"/>
              <a:t>Point feature does not give satisfactory results for slight variations</a:t>
            </a:r>
          </a:p>
          <a:p>
            <a:pPr>
              <a:buFont typeface="Wingdings" panose="05000000000000000000" pitchFamily="2" charset="2"/>
              <a:buChar char="Ø"/>
            </a:pPr>
            <a:r>
              <a:rPr lang="en-IN" dirty="0"/>
              <a:t> </a:t>
            </a:r>
            <a:r>
              <a:rPr lang="en-IN" dirty="0" smtClean="0"/>
              <a:t>We also tried texture based segmentation, </a:t>
            </a:r>
            <a:r>
              <a:rPr lang="en-IN" dirty="0"/>
              <a:t>G</a:t>
            </a:r>
            <a:r>
              <a:rPr lang="en-IN" dirty="0" smtClean="0"/>
              <a:t>abor filter, Hough transform and UV ray techniques but with unsatisfactory results</a:t>
            </a:r>
          </a:p>
          <a:p>
            <a:pPr marL="0" indent="0">
              <a:buNone/>
            </a:pPr>
            <a:endParaRPr lang="en-US" dirty="0"/>
          </a:p>
        </p:txBody>
      </p:sp>
      <p:sp>
        <p:nvSpPr>
          <p:cNvPr id="4" name="Text Placeholder 5">
            <a:extLst>
              <a:ext uri="{FF2B5EF4-FFF2-40B4-BE49-F238E27FC236}">
                <a16:creationId xmlns:a16="http://schemas.microsoft.com/office/drawing/2014/main" xmlns="" id="{87EA3211-618D-4AA3-A8CF-C46E67A9DEF7}"/>
              </a:ext>
            </a:extLst>
          </p:cNvPr>
          <p:cNvSpPr txBox="1">
            <a:spLocks/>
          </p:cNvSpPr>
          <p:nvPr/>
        </p:nvSpPr>
        <p:spPr>
          <a:xfrm>
            <a:off x="1396874" y="5497944"/>
            <a:ext cx="4951410" cy="891312"/>
          </a:xfrm>
          <a:prstGeom prst="rect">
            <a:avLst/>
          </a:prstGeom>
        </p:spPr>
        <p:txBody>
          <a:bodyPr anchor="ct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lgn="ctr">
              <a:buNone/>
            </a:pPr>
            <a:r>
              <a:rPr lang="en-IN" dirty="0" smtClean="0"/>
              <a:t>UNSUCCESSFUL RESULT:</a:t>
            </a:r>
            <a:endParaRPr lang="en-IN" dirty="0"/>
          </a:p>
        </p:txBody>
      </p:sp>
      <p:pic>
        <p:nvPicPr>
          <p:cNvPr id="5" name="Picture 4">
            <a:extLst>
              <a:ext uri="{FF2B5EF4-FFF2-40B4-BE49-F238E27FC236}">
                <a16:creationId xmlns:a16="http://schemas.microsoft.com/office/drawing/2014/main" xmlns="" id="{5A958DE7-DBD5-41AF-B82E-13ECCF7B643D}"/>
              </a:ext>
            </a:extLst>
          </p:cNvPr>
          <p:cNvPicPr>
            <a:picLocks noChangeAspect="1"/>
          </p:cNvPicPr>
          <p:nvPr/>
        </p:nvPicPr>
        <p:blipFill>
          <a:blip r:embed="rId2"/>
          <a:stretch>
            <a:fillRect/>
          </a:stretch>
        </p:blipFill>
        <p:spPr>
          <a:xfrm>
            <a:off x="5809566" y="5070156"/>
            <a:ext cx="1588359" cy="1534677"/>
          </a:xfrm>
          <a:prstGeom prst="rect">
            <a:avLst/>
          </a:prstGeom>
        </p:spPr>
      </p:pic>
      <p:pic>
        <p:nvPicPr>
          <p:cNvPr id="6" name="Picture 5">
            <a:extLst>
              <a:ext uri="{FF2B5EF4-FFF2-40B4-BE49-F238E27FC236}">
                <a16:creationId xmlns:a16="http://schemas.microsoft.com/office/drawing/2014/main" xmlns="" id="{FF428FE5-06BD-402A-AAF4-6B95407F0E1E}"/>
              </a:ext>
            </a:extLst>
          </p:cNvPr>
          <p:cNvPicPr>
            <a:picLocks noChangeAspect="1"/>
          </p:cNvPicPr>
          <p:nvPr/>
        </p:nvPicPr>
        <p:blipFill>
          <a:blip r:embed="rId3"/>
          <a:stretch>
            <a:fillRect/>
          </a:stretch>
        </p:blipFill>
        <p:spPr>
          <a:xfrm>
            <a:off x="7714445" y="5070156"/>
            <a:ext cx="1566061" cy="1534677"/>
          </a:xfrm>
          <a:prstGeom prst="rect">
            <a:avLst/>
          </a:prstGeom>
        </p:spPr>
      </p:pic>
    </p:spTree>
    <p:extLst>
      <p:ext uri="{BB962C8B-B14F-4D97-AF65-F5344CB8AC3E}">
        <p14:creationId xmlns:p14="http://schemas.microsoft.com/office/powerpoint/2010/main" val="979988544"/>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C72BF1A-369F-46E2-973D-D23D6703A9FF}"/>
              </a:ext>
            </a:extLst>
          </p:cNvPr>
          <p:cNvSpPr>
            <a:spLocks noGrp="1"/>
          </p:cNvSpPr>
          <p:nvPr>
            <p:ph type="title"/>
          </p:nvPr>
        </p:nvSpPr>
        <p:spPr/>
        <p:txBody>
          <a:bodyPr/>
          <a:lstStyle/>
          <a:p>
            <a:pPr algn="ctr"/>
            <a:r>
              <a:rPr lang="en-IN" dirty="0"/>
              <a:t>PREDICTED HYPOTHESES </a:t>
            </a:r>
          </a:p>
        </p:txBody>
      </p:sp>
      <p:sp>
        <p:nvSpPr>
          <p:cNvPr id="3" name="Content Placeholder 2">
            <a:extLst>
              <a:ext uri="{FF2B5EF4-FFF2-40B4-BE49-F238E27FC236}">
                <a16:creationId xmlns:a16="http://schemas.microsoft.com/office/drawing/2014/main" xmlns="" id="{51400C52-A528-4A30-99AA-393B6120F890}"/>
              </a:ext>
            </a:extLst>
          </p:cNvPr>
          <p:cNvSpPr>
            <a:spLocks noGrp="1"/>
          </p:cNvSpPr>
          <p:nvPr>
            <p:ph idx="1"/>
          </p:nvPr>
        </p:nvSpPr>
        <p:spPr/>
        <p:txBody>
          <a:bodyPr/>
          <a:lstStyle/>
          <a:p>
            <a:pPr marL="0" indent="0">
              <a:buNone/>
            </a:pPr>
            <a:endParaRPr lang="en-IN" dirty="0"/>
          </a:p>
          <a:p>
            <a:pPr>
              <a:buFont typeface="Wingdings" panose="05000000000000000000" pitchFamily="2" charset="2"/>
              <a:buChar char="Ø"/>
            </a:pPr>
            <a:r>
              <a:rPr lang="en-IN" dirty="0" smtClean="0"/>
              <a:t> Deep </a:t>
            </a:r>
            <a:r>
              <a:rPr lang="en-IN" dirty="0"/>
              <a:t>learning to detect counterfeit ICs </a:t>
            </a:r>
          </a:p>
          <a:p>
            <a:pPr marL="0" indent="0">
              <a:buNone/>
            </a:pPr>
            <a:endParaRPr lang="en-IN" dirty="0"/>
          </a:p>
          <a:p>
            <a:pPr>
              <a:buFont typeface="Wingdings" panose="05000000000000000000" pitchFamily="2" charset="2"/>
              <a:buChar char="Ø"/>
            </a:pPr>
            <a:r>
              <a:rPr lang="en-IN" dirty="0" smtClean="0"/>
              <a:t> Using </a:t>
            </a:r>
            <a:r>
              <a:rPr lang="en-IN" dirty="0"/>
              <a:t>biometrics to detect age of </a:t>
            </a:r>
            <a:r>
              <a:rPr lang="en-IN" dirty="0" smtClean="0"/>
              <a:t>a </a:t>
            </a:r>
            <a:r>
              <a:rPr lang="en-IN" dirty="0"/>
              <a:t>pin</a:t>
            </a:r>
          </a:p>
          <a:p>
            <a:pPr marL="0" indent="0">
              <a:buNone/>
            </a:pPr>
            <a:endParaRPr lang="en-IN" dirty="0"/>
          </a:p>
        </p:txBody>
      </p:sp>
    </p:spTree>
    <p:extLst>
      <p:ext uri="{BB962C8B-B14F-4D97-AF65-F5344CB8AC3E}">
        <p14:creationId xmlns:p14="http://schemas.microsoft.com/office/powerpoint/2010/main" val="2444090869"/>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IN" dirty="0" smtClean="0"/>
              <a:t>What is </a:t>
            </a:r>
            <a:r>
              <a:rPr lang="en-IN" dirty="0" err="1" smtClean="0"/>
              <a:t>Cnn</a:t>
            </a:r>
            <a:r>
              <a:rPr lang="en-IN" dirty="0" smtClean="0"/>
              <a:t> ?</a:t>
            </a:r>
            <a:endParaRPr lang="en-US" dirty="0"/>
          </a:p>
        </p:txBody>
      </p:sp>
      <p:sp>
        <p:nvSpPr>
          <p:cNvPr id="3" name="Content Placeholder 2"/>
          <p:cNvSpPr>
            <a:spLocks noGrp="1"/>
          </p:cNvSpPr>
          <p:nvPr>
            <p:ph idx="1"/>
          </p:nvPr>
        </p:nvSpPr>
        <p:spPr/>
        <p:txBody>
          <a:bodyPr>
            <a:normAutofit lnSpcReduction="10000"/>
          </a:bodyPr>
          <a:lstStyle/>
          <a:p>
            <a:pPr>
              <a:buFont typeface="Wingdings" panose="05000000000000000000" pitchFamily="2" charset="2"/>
              <a:buChar char="Ø"/>
            </a:pPr>
            <a:r>
              <a:rPr lang="en-IN" dirty="0" smtClean="0"/>
              <a:t> A </a:t>
            </a:r>
            <a:r>
              <a:rPr lang="en-IN" dirty="0"/>
              <a:t>N</a:t>
            </a:r>
            <a:r>
              <a:rPr lang="en-IN" dirty="0" smtClean="0"/>
              <a:t>eural </a:t>
            </a:r>
            <a:r>
              <a:rPr lang="en-IN" dirty="0"/>
              <a:t>N</a:t>
            </a:r>
            <a:r>
              <a:rPr lang="en-IN" dirty="0" smtClean="0"/>
              <a:t>etwork is analogous to functioning neurons in human brain and it can be trained to carry out desired tasks</a:t>
            </a:r>
          </a:p>
          <a:p>
            <a:pPr>
              <a:buFont typeface="Wingdings" panose="05000000000000000000" pitchFamily="2" charset="2"/>
              <a:buChar char="Ø"/>
            </a:pPr>
            <a:r>
              <a:rPr lang="en-IN" dirty="0"/>
              <a:t> </a:t>
            </a:r>
            <a:r>
              <a:rPr lang="en-IN" dirty="0" smtClean="0"/>
              <a:t>The deep learning auto-encoders are composed of two symmetrical deep belief networks</a:t>
            </a:r>
          </a:p>
          <a:p>
            <a:pPr>
              <a:buFont typeface="Wingdings" panose="05000000000000000000" pitchFamily="2" charset="2"/>
              <a:buChar char="Ø"/>
            </a:pPr>
            <a:r>
              <a:rPr lang="en-IN" dirty="0" smtClean="0"/>
              <a:t> The encoding network learns to compress the input vector and the decoding network can be used to reconstruct the data</a:t>
            </a:r>
          </a:p>
          <a:p>
            <a:pPr>
              <a:buFont typeface="Wingdings" panose="05000000000000000000" pitchFamily="2" charset="2"/>
              <a:buChar char="Ø"/>
            </a:pPr>
            <a:r>
              <a:rPr lang="en-IN" dirty="0"/>
              <a:t> </a:t>
            </a:r>
            <a:r>
              <a:rPr lang="en-IN" dirty="0" smtClean="0"/>
              <a:t>A robust machine learning technique</a:t>
            </a:r>
            <a:endParaRPr lang="en-US" dirty="0"/>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87936" y="618518"/>
            <a:ext cx="2346817" cy="1312084"/>
          </a:xfrm>
          <a:prstGeom prst="rect">
            <a:avLst/>
          </a:prstGeom>
        </p:spPr>
      </p:pic>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496645" y="466119"/>
            <a:ext cx="1987889" cy="1464483"/>
          </a:xfrm>
          <a:prstGeom prst="rect">
            <a:avLst/>
          </a:prstGeom>
        </p:spPr>
      </p:pic>
      <p:pic>
        <p:nvPicPr>
          <p:cNvPr id="7" name="Picture 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428536" y="4915787"/>
            <a:ext cx="2492793" cy="1750827"/>
          </a:xfrm>
          <a:prstGeom prst="rect">
            <a:avLst/>
          </a:prstGeom>
        </p:spPr>
      </p:pic>
    </p:spTree>
    <p:extLst>
      <p:ext uri="{BB962C8B-B14F-4D97-AF65-F5344CB8AC3E}">
        <p14:creationId xmlns:p14="http://schemas.microsoft.com/office/powerpoint/2010/main" val="3548373660"/>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IN" dirty="0" smtClean="0"/>
              <a:t>WHY USE CNN?</a:t>
            </a:r>
            <a:endParaRPr lang="en-US" dirty="0"/>
          </a:p>
        </p:txBody>
      </p:sp>
      <p:sp>
        <p:nvSpPr>
          <p:cNvPr id="3" name="Content Placeholder 2"/>
          <p:cNvSpPr>
            <a:spLocks noGrp="1"/>
          </p:cNvSpPr>
          <p:nvPr>
            <p:ph idx="1"/>
          </p:nvPr>
        </p:nvSpPr>
        <p:spPr/>
        <p:txBody>
          <a:bodyPr>
            <a:normAutofit lnSpcReduction="10000"/>
          </a:bodyPr>
          <a:lstStyle/>
          <a:p>
            <a:pPr>
              <a:buFont typeface="Wingdings" panose="05000000000000000000" pitchFamily="2" charset="2"/>
              <a:buChar char="Ø"/>
            </a:pPr>
            <a:r>
              <a:rPr lang="en-IN" dirty="0" smtClean="0"/>
              <a:t> It is data driven approach. </a:t>
            </a:r>
            <a:r>
              <a:rPr lang="en-IN" dirty="0"/>
              <a:t>S</a:t>
            </a:r>
            <a:r>
              <a:rPr lang="en-IN" dirty="0" smtClean="0"/>
              <a:t>o higher the data, the more accurate results we get</a:t>
            </a:r>
          </a:p>
          <a:p>
            <a:pPr>
              <a:buFont typeface="Wingdings" panose="05000000000000000000" pitchFamily="2" charset="2"/>
              <a:buChar char="Ø"/>
            </a:pPr>
            <a:r>
              <a:rPr lang="en-IN" dirty="0"/>
              <a:t> </a:t>
            </a:r>
            <a:r>
              <a:rPr lang="en-IN" dirty="0" smtClean="0"/>
              <a:t>It is very robust in nature</a:t>
            </a:r>
          </a:p>
          <a:p>
            <a:pPr>
              <a:buFont typeface="Wingdings" panose="05000000000000000000" pitchFamily="2" charset="2"/>
              <a:buChar char="Ø"/>
            </a:pPr>
            <a:r>
              <a:rPr lang="en-IN" dirty="0"/>
              <a:t> </a:t>
            </a:r>
            <a:r>
              <a:rPr lang="en-IN" dirty="0" smtClean="0"/>
              <a:t>High accuracy and efficient</a:t>
            </a:r>
          </a:p>
          <a:p>
            <a:pPr>
              <a:buFont typeface="Wingdings" panose="05000000000000000000" pitchFamily="2" charset="2"/>
              <a:buChar char="Ø"/>
            </a:pPr>
            <a:r>
              <a:rPr lang="en-IN" dirty="0" smtClean="0"/>
              <a:t> Very popularly used as an object classification tool</a:t>
            </a:r>
          </a:p>
          <a:p>
            <a:pPr>
              <a:buFont typeface="Wingdings" panose="05000000000000000000" pitchFamily="2" charset="2"/>
              <a:buChar char="Ø"/>
            </a:pPr>
            <a:r>
              <a:rPr lang="en-IN" dirty="0"/>
              <a:t> </a:t>
            </a:r>
            <a:r>
              <a:rPr lang="en-IN" dirty="0" smtClean="0"/>
              <a:t>Computationally efficient, although for training purposes, computational cost is high and we need a good GPU</a:t>
            </a:r>
            <a:endParaRPr lang="en-US"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686549" y="2802858"/>
            <a:ext cx="2703546" cy="1949616"/>
          </a:xfrm>
          <a:prstGeom prst="rect">
            <a:avLst/>
          </a:prstGeom>
        </p:spPr>
      </p:pic>
    </p:spTree>
    <p:extLst>
      <p:ext uri="{BB962C8B-B14F-4D97-AF65-F5344CB8AC3E}">
        <p14:creationId xmlns:p14="http://schemas.microsoft.com/office/powerpoint/2010/main" val="3461552959"/>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IN" dirty="0" smtClean="0"/>
              <a:t>How to use </a:t>
            </a:r>
            <a:r>
              <a:rPr lang="en-IN" dirty="0" err="1" smtClean="0"/>
              <a:t>cnn</a:t>
            </a:r>
            <a:r>
              <a:rPr lang="en-IN" dirty="0" smtClean="0"/>
              <a:t>?</a:t>
            </a:r>
            <a:endParaRPr lang="en-US" dirty="0"/>
          </a:p>
        </p:txBody>
      </p:sp>
      <p:sp>
        <p:nvSpPr>
          <p:cNvPr id="3" name="Content Placeholder 2"/>
          <p:cNvSpPr>
            <a:spLocks noGrp="1"/>
          </p:cNvSpPr>
          <p:nvPr>
            <p:ph idx="1"/>
          </p:nvPr>
        </p:nvSpPr>
        <p:spPr>
          <a:xfrm>
            <a:off x="1141412" y="2249487"/>
            <a:ext cx="8202863" cy="3541714"/>
          </a:xfrm>
        </p:spPr>
        <p:txBody>
          <a:bodyPr>
            <a:normAutofit fontScale="85000" lnSpcReduction="10000"/>
          </a:bodyPr>
          <a:lstStyle/>
          <a:p>
            <a:pPr>
              <a:buFont typeface="Wingdings" panose="05000000000000000000" pitchFamily="2" charset="2"/>
              <a:buChar char="Ø"/>
            </a:pPr>
            <a:r>
              <a:rPr lang="en-IN" dirty="0" smtClean="0"/>
              <a:t> </a:t>
            </a:r>
            <a:r>
              <a:rPr lang="en-US" dirty="0"/>
              <a:t>The deep neural network consists of one input layer followed by a stacked auto encoder and a multilayer neural network </a:t>
            </a:r>
            <a:r>
              <a:rPr lang="en-US" dirty="0" smtClean="0"/>
              <a:t>classifier</a:t>
            </a:r>
          </a:p>
          <a:p>
            <a:pPr>
              <a:buFont typeface="Wingdings" panose="05000000000000000000" pitchFamily="2" charset="2"/>
              <a:buChar char="Ø"/>
            </a:pPr>
            <a:r>
              <a:rPr lang="en-US" dirty="0" smtClean="0"/>
              <a:t> The </a:t>
            </a:r>
            <a:r>
              <a:rPr lang="en-US" dirty="0"/>
              <a:t>overall architecture results in four hidden layers and one output </a:t>
            </a:r>
            <a:r>
              <a:rPr lang="en-US" dirty="0" smtClean="0"/>
              <a:t>layer</a:t>
            </a:r>
          </a:p>
          <a:p>
            <a:pPr>
              <a:buFont typeface="Wingdings" panose="05000000000000000000" pitchFamily="2" charset="2"/>
              <a:buChar char="Ø"/>
            </a:pPr>
            <a:r>
              <a:rPr lang="en-IN" dirty="0"/>
              <a:t> </a:t>
            </a:r>
            <a:r>
              <a:rPr lang="en-US" dirty="0"/>
              <a:t>The classifier part of the network and the auto encoder layers are trained differently to avoid the problems associated with training all the layers of a deep network using only </a:t>
            </a:r>
            <a:r>
              <a:rPr lang="en-US" dirty="0" smtClean="0"/>
              <a:t>backpropagation</a:t>
            </a:r>
          </a:p>
          <a:p>
            <a:pPr>
              <a:buFont typeface="Wingdings" panose="05000000000000000000" pitchFamily="2" charset="2"/>
              <a:buChar char="Ø"/>
            </a:pPr>
            <a:r>
              <a:rPr lang="en-US" dirty="0" smtClean="0"/>
              <a:t> The </a:t>
            </a:r>
            <a:r>
              <a:rPr lang="en-US" dirty="0"/>
              <a:t>stacked auto encoder </a:t>
            </a:r>
            <a:r>
              <a:rPr lang="en-US" dirty="0" smtClean="0"/>
              <a:t>is </a:t>
            </a:r>
            <a:r>
              <a:rPr lang="en-US" dirty="0"/>
              <a:t>trained using a greedy layer-wise approach </a:t>
            </a:r>
            <a:endParaRPr lang="en-US" dirty="0" smtClean="0"/>
          </a:p>
          <a:p>
            <a:pPr>
              <a:buFont typeface="Wingdings" panose="05000000000000000000" pitchFamily="2" charset="2"/>
              <a:buChar char="Ø"/>
            </a:pPr>
            <a:r>
              <a:rPr lang="en-IN" dirty="0"/>
              <a:t> </a:t>
            </a:r>
            <a:r>
              <a:rPr lang="en-IN" dirty="0" smtClean="0"/>
              <a:t>The network is trained with counterfeit IC images </a:t>
            </a:r>
            <a:endParaRPr lang="en-US" dirty="0"/>
          </a:p>
        </p:txBody>
      </p:sp>
      <p:pic>
        <p:nvPicPr>
          <p:cNvPr id="4" name="Picture 3"/>
          <p:cNvPicPr/>
          <p:nvPr/>
        </p:nvPicPr>
        <p:blipFill>
          <a:blip r:embed="rId2">
            <a:extLst>
              <a:ext uri="{28A0092B-C50C-407E-A947-70E740481C1C}">
                <a14:useLocalDpi xmlns:a14="http://schemas.microsoft.com/office/drawing/2010/main" val="0"/>
              </a:ext>
            </a:extLst>
          </a:blip>
          <a:stretch>
            <a:fillRect/>
          </a:stretch>
        </p:blipFill>
        <p:spPr>
          <a:xfrm>
            <a:off x="9488654" y="2665413"/>
            <a:ext cx="2362452" cy="2062580"/>
          </a:xfrm>
          <a:prstGeom prst="rect">
            <a:avLst/>
          </a:prstGeom>
        </p:spPr>
      </p:pic>
    </p:spTree>
    <p:extLst>
      <p:ext uri="{BB962C8B-B14F-4D97-AF65-F5344CB8AC3E}">
        <p14:creationId xmlns:p14="http://schemas.microsoft.com/office/powerpoint/2010/main" val="3209500074"/>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34D2F6F-1DA7-4024-BED6-27150386CC95}"/>
              </a:ext>
            </a:extLst>
          </p:cNvPr>
          <p:cNvSpPr>
            <a:spLocks noGrp="1"/>
          </p:cNvSpPr>
          <p:nvPr>
            <p:ph type="title"/>
          </p:nvPr>
        </p:nvSpPr>
        <p:spPr/>
        <p:txBody>
          <a:bodyPr/>
          <a:lstStyle/>
          <a:p>
            <a:pPr algn="ctr"/>
            <a:r>
              <a:rPr lang="en-IN" dirty="0"/>
              <a:t>Future work</a:t>
            </a:r>
          </a:p>
        </p:txBody>
      </p:sp>
      <p:sp>
        <p:nvSpPr>
          <p:cNvPr id="3" name="Content Placeholder 2">
            <a:extLst>
              <a:ext uri="{FF2B5EF4-FFF2-40B4-BE49-F238E27FC236}">
                <a16:creationId xmlns:a16="http://schemas.microsoft.com/office/drawing/2014/main" xmlns="" id="{BCE87669-886E-4D0B-8ABA-E02B3E0941DB}"/>
              </a:ext>
            </a:extLst>
          </p:cNvPr>
          <p:cNvSpPr>
            <a:spLocks noGrp="1"/>
          </p:cNvSpPr>
          <p:nvPr>
            <p:ph idx="1"/>
          </p:nvPr>
        </p:nvSpPr>
        <p:spPr/>
        <p:txBody>
          <a:bodyPr/>
          <a:lstStyle/>
          <a:p>
            <a:pPr>
              <a:buFont typeface="Wingdings" panose="05000000000000000000" pitchFamily="2" charset="2"/>
              <a:buChar char="q"/>
            </a:pPr>
            <a:r>
              <a:rPr lang="en-IN" dirty="0" smtClean="0"/>
              <a:t> CNN </a:t>
            </a:r>
            <a:r>
              <a:rPr lang="en-IN" dirty="0"/>
              <a:t>database make to train machine for IC pins using </a:t>
            </a:r>
            <a:r>
              <a:rPr lang="en-IN" dirty="0" err="1"/>
              <a:t>Tensorflow</a:t>
            </a:r>
            <a:endParaRPr lang="en-IN" dirty="0"/>
          </a:p>
          <a:p>
            <a:pPr marL="0" indent="0">
              <a:buNone/>
            </a:pPr>
            <a:endParaRPr lang="en-IN" dirty="0"/>
          </a:p>
          <a:p>
            <a:pPr>
              <a:buFont typeface="Wingdings" panose="05000000000000000000" pitchFamily="2" charset="2"/>
              <a:buChar char="q"/>
            </a:pPr>
            <a:r>
              <a:rPr lang="en-IN" dirty="0" smtClean="0"/>
              <a:t> Collect </a:t>
            </a:r>
            <a:r>
              <a:rPr lang="en-IN" dirty="0"/>
              <a:t>minimum 600 microscopic images for each type of ICs</a:t>
            </a:r>
          </a:p>
          <a:p>
            <a:pPr>
              <a:buFont typeface="Wingdings" panose="05000000000000000000" pitchFamily="2" charset="2"/>
              <a:buChar char="q"/>
            </a:pPr>
            <a:endParaRPr lang="en-IN" dirty="0"/>
          </a:p>
          <a:p>
            <a:pPr>
              <a:buFont typeface="Wingdings" panose="05000000000000000000" pitchFamily="2" charset="2"/>
              <a:buChar char="q"/>
            </a:pPr>
            <a:r>
              <a:rPr lang="en-IN" dirty="0" smtClean="0"/>
              <a:t> CNN </a:t>
            </a:r>
            <a:r>
              <a:rPr lang="en-IN" dirty="0"/>
              <a:t>algorithm development if needed</a:t>
            </a:r>
          </a:p>
        </p:txBody>
      </p:sp>
    </p:spTree>
    <p:extLst>
      <p:ext uri="{BB962C8B-B14F-4D97-AF65-F5344CB8AC3E}">
        <p14:creationId xmlns:p14="http://schemas.microsoft.com/office/powerpoint/2010/main" val="3300236995"/>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IN" dirty="0" smtClean="0"/>
              <a:t>conclusion</a:t>
            </a:r>
            <a:endParaRPr lang="en-US" dirty="0"/>
          </a:p>
        </p:txBody>
      </p:sp>
      <p:sp>
        <p:nvSpPr>
          <p:cNvPr id="3" name="Content Placeholder 2"/>
          <p:cNvSpPr>
            <a:spLocks noGrp="1"/>
          </p:cNvSpPr>
          <p:nvPr>
            <p:ph idx="1"/>
          </p:nvPr>
        </p:nvSpPr>
        <p:spPr/>
        <p:txBody>
          <a:bodyPr>
            <a:normAutofit fontScale="92500" lnSpcReduction="10000"/>
          </a:bodyPr>
          <a:lstStyle/>
          <a:p>
            <a:pPr>
              <a:buFont typeface="Wingdings" panose="05000000000000000000" pitchFamily="2" charset="2"/>
              <a:buChar char="Ø"/>
            </a:pPr>
            <a:r>
              <a:rPr lang="en-IN" dirty="0" smtClean="0"/>
              <a:t> We explored basic image processing techniques for like Point </a:t>
            </a:r>
            <a:r>
              <a:rPr lang="en-IN" dirty="0"/>
              <a:t>F</a:t>
            </a:r>
            <a:r>
              <a:rPr lang="en-IN" dirty="0" smtClean="0"/>
              <a:t>eature Matching and Mask </a:t>
            </a:r>
            <a:r>
              <a:rPr lang="en-IN" dirty="0"/>
              <a:t>B</a:t>
            </a:r>
            <a:r>
              <a:rPr lang="en-IN" dirty="0" smtClean="0"/>
              <a:t>ased </a:t>
            </a:r>
            <a:r>
              <a:rPr lang="en-IN" dirty="0"/>
              <a:t>S</a:t>
            </a:r>
            <a:r>
              <a:rPr lang="en-IN" dirty="0" smtClean="0"/>
              <a:t>egmentation for detection and extraction of pins which we then through analysis tried to determine if the IC is counterfeit or not</a:t>
            </a:r>
          </a:p>
          <a:p>
            <a:pPr>
              <a:buFont typeface="Wingdings" panose="05000000000000000000" pitchFamily="2" charset="2"/>
              <a:buChar char="Ø"/>
            </a:pPr>
            <a:r>
              <a:rPr lang="en-IN" dirty="0"/>
              <a:t> </a:t>
            </a:r>
            <a:r>
              <a:rPr lang="en-IN" dirty="0" smtClean="0"/>
              <a:t>The method was neither computationally efficient nor robust in approach</a:t>
            </a:r>
          </a:p>
          <a:p>
            <a:pPr>
              <a:buFont typeface="Wingdings" panose="05000000000000000000" pitchFamily="2" charset="2"/>
              <a:buChar char="Ø"/>
            </a:pPr>
            <a:r>
              <a:rPr lang="en-IN" dirty="0"/>
              <a:t> </a:t>
            </a:r>
            <a:r>
              <a:rPr lang="en-IN" dirty="0" smtClean="0"/>
              <a:t>We moved on to Convolutional Neural Networks and deep learning techniques because of their accuracy and robustness</a:t>
            </a:r>
          </a:p>
          <a:p>
            <a:pPr>
              <a:buFont typeface="Wingdings" panose="05000000000000000000" pitchFamily="2" charset="2"/>
              <a:buChar char="Ø"/>
            </a:pPr>
            <a:r>
              <a:rPr lang="en-IN" dirty="0" smtClean="0"/>
              <a:t> Our future work will thus focus on training of such neural net and build an efficient classifier </a:t>
            </a:r>
            <a:endParaRPr lang="en-US" dirty="0"/>
          </a:p>
        </p:txBody>
      </p:sp>
    </p:spTree>
    <p:extLst>
      <p:ext uri="{BB962C8B-B14F-4D97-AF65-F5344CB8AC3E}">
        <p14:creationId xmlns:p14="http://schemas.microsoft.com/office/powerpoint/2010/main" val="1957946319"/>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F6ADAD7-7AFC-4F0F-BC35-23E469CB67ED}"/>
              </a:ext>
            </a:extLst>
          </p:cNvPr>
          <p:cNvSpPr>
            <a:spLocks noGrp="1"/>
          </p:cNvSpPr>
          <p:nvPr>
            <p:ph type="title"/>
          </p:nvPr>
        </p:nvSpPr>
        <p:spPr/>
        <p:txBody>
          <a:bodyPr/>
          <a:lstStyle/>
          <a:p>
            <a:pPr algn="ctr"/>
            <a:r>
              <a:rPr lang="en-IN" dirty="0"/>
              <a:t>References</a:t>
            </a:r>
          </a:p>
        </p:txBody>
      </p:sp>
      <p:sp>
        <p:nvSpPr>
          <p:cNvPr id="3" name="Content Placeholder 2">
            <a:extLst>
              <a:ext uri="{FF2B5EF4-FFF2-40B4-BE49-F238E27FC236}">
                <a16:creationId xmlns:a16="http://schemas.microsoft.com/office/drawing/2014/main" xmlns="" id="{0EA93E97-37BD-4F90-AB6B-BA782A718FCA}"/>
              </a:ext>
            </a:extLst>
          </p:cNvPr>
          <p:cNvSpPr>
            <a:spLocks noGrp="1"/>
          </p:cNvSpPr>
          <p:nvPr>
            <p:ph idx="1"/>
          </p:nvPr>
        </p:nvSpPr>
        <p:spPr/>
        <p:txBody>
          <a:bodyPr>
            <a:noAutofit/>
          </a:bodyPr>
          <a:lstStyle/>
          <a:p>
            <a:pPr lvl="0"/>
            <a:r>
              <a:rPr lang="en-US" sz="1200" dirty="0"/>
              <a:t>Use of the Hough Transformation To Detect Lines and Curves in Pictures by Richard O. </a:t>
            </a:r>
            <a:r>
              <a:rPr lang="en-US" sz="1200" dirty="0" err="1"/>
              <a:t>Duda</a:t>
            </a:r>
            <a:r>
              <a:rPr lang="en-US" sz="1200" dirty="0"/>
              <a:t> and Peter E. </a:t>
            </a:r>
            <a:r>
              <a:rPr lang="en-US" sz="1200" dirty="0" err="1"/>
              <a:t>Hart,pages</a:t>
            </a:r>
            <a:r>
              <a:rPr lang="en-US" sz="1200" dirty="0"/>
              <a:t> 2</a:t>
            </a:r>
          </a:p>
          <a:p>
            <a:pPr lvl="0"/>
            <a:r>
              <a:rPr lang="en-US" sz="1200" dirty="0"/>
              <a:t>Using Hidden Markov Models for Feature Extraction in Paper Currency Recognition by H. </a:t>
            </a:r>
            <a:r>
              <a:rPr lang="en-US" sz="1200" dirty="0" err="1"/>
              <a:t>Hassanpour</a:t>
            </a:r>
            <a:r>
              <a:rPr lang="en-US" sz="1200" dirty="0"/>
              <a:t> and E. </a:t>
            </a:r>
            <a:r>
              <a:rPr lang="en-US" sz="1200" dirty="0" err="1"/>
              <a:t>Hallajian</a:t>
            </a:r>
            <a:r>
              <a:rPr lang="en-US" sz="1200" dirty="0"/>
              <a:t>, pages 4</a:t>
            </a:r>
          </a:p>
          <a:p>
            <a:pPr lvl="0"/>
            <a:r>
              <a:rPr lang="en-US" sz="1200" dirty="0"/>
              <a:t>S. Arya and D. M. Mount. Approximate nearest neighbor searching. Proc. 4th Annual ACM-SIAM Symposium on Discrete Algorithms, pages 271-280, 1993</a:t>
            </a:r>
          </a:p>
          <a:p>
            <a:pPr lvl="0"/>
            <a:r>
              <a:rPr lang="en-US" sz="1200" dirty="0"/>
              <a:t>I. Jermyn and H. Ishikawa. Globally Optimal Regions and Boundaries as Minimum Ratio Weight Cycles. IEEE Transactions on Pattern Analysis and Machine Intelligence, </a:t>
            </a:r>
            <a:r>
              <a:rPr lang="en-US" sz="1200" dirty="0" err="1"/>
              <a:t>vol</a:t>
            </a:r>
            <a:r>
              <a:rPr lang="en-US" sz="1200" dirty="0"/>
              <a:t> 23, pages 1075-1088, October 2001</a:t>
            </a:r>
          </a:p>
          <a:p>
            <a:pPr lvl="0"/>
            <a:r>
              <a:rPr lang="en-US" sz="1200" dirty="0"/>
              <a:t>Mask </a:t>
            </a:r>
            <a:r>
              <a:rPr lang="en-US" sz="1200" dirty="0" err="1"/>
              <a:t>Defenition</a:t>
            </a:r>
            <a:r>
              <a:rPr lang="en-US" sz="1200" dirty="0"/>
              <a:t> for WBC Segmentation by Hossein SAHOOLIZADEH pages 3-5, 2009</a:t>
            </a:r>
          </a:p>
          <a:p>
            <a:pPr lvl="0"/>
            <a:r>
              <a:rPr lang="en-US" sz="1200" dirty="0"/>
              <a:t>Counterfeit Integrated Circuits: A Rising Threat in the Global Semiconductor Supply Chain by U </a:t>
            </a:r>
            <a:r>
              <a:rPr lang="en-US" sz="1200" dirty="0" err="1"/>
              <a:t>Guin</a:t>
            </a:r>
            <a:r>
              <a:rPr lang="en-US" sz="1200" dirty="0"/>
              <a:t>, page 2-5, IEEE 2014</a:t>
            </a:r>
          </a:p>
          <a:p>
            <a:pPr lvl="0"/>
            <a:r>
              <a:rPr lang="en-US" sz="1200" dirty="0"/>
              <a:t>A Character-Level Convolutional Neural Network with </a:t>
            </a:r>
            <a:r>
              <a:rPr lang="en-US" sz="1200" dirty="0" err="1"/>
              <a:t>Embeddings</a:t>
            </a:r>
            <a:r>
              <a:rPr lang="en-US" sz="1200" dirty="0"/>
              <a:t> For Detecting Malicious URLs, File Paths and Registry Keys by Joshua Saxe and Konstantin Berlin, page 12-18, 27 Feb 2017</a:t>
            </a:r>
          </a:p>
          <a:p>
            <a:pPr lvl="0"/>
            <a:r>
              <a:rPr lang="en-US" sz="1200" dirty="0"/>
              <a:t>A Survey of Modern Questions and Challenges in Feature Extraction by GOOGLE Research JMLR: Workshop and Conference Proceedings 44, page 5-10, NIPS 2015</a:t>
            </a:r>
          </a:p>
          <a:p>
            <a:pPr lvl="0"/>
            <a:r>
              <a:rPr lang="en-US" sz="1200" dirty="0"/>
              <a:t>ImageNet Classification with Deep Convolutional Neural Networks by University of Tokyo, page 2-4 ImageNet LSVRC-2010 </a:t>
            </a:r>
            <a:r>
              <a:rPr lang="en-US" sz="1200" dirty="0" smtClean="0"/>
              <a:t>contest</a:t>
            </a:r>
            <a:endParaRPr lang="en-US" sz="1200" dirty="0"/>
          </a:p>
        </p:txBody>
      </p:sp>
    </p:spTree>
    <p:extLst>
      <p:ext uri="{BB962C8B-B14F-4D97-AF65-F5344CB8AC3E}">
        <p14:creationId xmlns:p14="http://schemas.microsoft.com/office/powerpoint/2010/main" val="1252300848"/>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88056" y="2675918"/>
            <a:ext cx="9905998" cy="1478570"/>
          </a:xfrm>
        </p:spPr>
        <p:txBody>
          <a:bodyPr/>
          <a:lstStyle/>
          <a:p>
            <a:pPr algn="ctr"/>
            <a:r>
              <a:rPr lang="en-IN" dirty="0" smtClean="0"/>
              <a:t>Thank you for your time!</a:t>
            </a:r>
            <a:endParaRPr lang="en-US" dirty="0"/>
          </a:p>
        </p:txBody>
      </p:sp>
      <p:sp>
        <p:nvSpPr>
          <p:cNvPr id="4" name="Title 1"/>
          <p:cNvSpPr txBox="1">
            <a:spLocks/>
          </p:cNvSpPr>
          <p:nvPr/>
        </p:nvSpPr>
        <p:spPr>
          <a:xfrm>
            <a:off x="-2099531" y="467466"/>
            <a:ext cx="9905998" cy="147857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a:lstStyle>
          <a:p>
            <a:pPr algn="ctr"/>
            <a:r>
              <a:rPr lang="en-IN" dirty="0" smtClean="0"/>
              <a:t>Any questions?</a:t>
            </a:r>
            <a:endParaRPr lang="en-US" dirty="0"/>
          </a:p>
        </p:txBody>
      </p:sp>
      <p:sp>
        <p:nvSpPr>
          <p:cNvPr id="5" name="Title 1"/>
          <p:cNvSpPr txBox="1">
            <a:spLocks/>
          </p:cNvSpPr>
          <p:nvPr/>
        </p:nvSpPr>
        <p:spPr>
          <a:xfrm>
            <a:off x="4013773" y="4884370"/>
            <a:ext cx="9905998" cy="147857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a:lstStyle>
          <a:p>
            <a:pPr algn="ctr"/>
            <a:r>
              <a:rPr lang="en-IN" dirty="0" smtClean="0"/>
              <a:t>Any criticisms?</a:t>
            </a:r>
            <a:endParaRPr lang="en-US" dirty="0"/>
          </a:p>
        </p:txBody>
      </p:sp>
    </p:spTree>
    <p:extLst>
      <p:ext uri="{BB962C8B-B14F-4D97-AF65-F5344CB8AC3E}">
        <p14:creationId xmlns:p14="http://schemas.microsoft.com/office/powerpoint/2010/main" val="2978028311"/>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ircuit">
  <a:themeElements>
    <a:clrScheme name="Blue Warm">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Circui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ircuit">
      <a:fillStyleLst>
        <a:solidFill>
          <a:schemeClr val="phClr"/>
        </a:solidFill>
        <a:gradFill rotWithShape="1">
          <a:gsLst>
            <a:gs pos="0">
              <a:schemeClr val="phClr">
                <a:tint val="58000"/>
                <a:satMod val="108000"/>
                <a:lumMod val="110000"/>
              </a:schemeClr>
            </a:gs>
            <a:gs pos="100000">
              <a:schemeClr val="phClr">
                <a:tint val="81000"/>
                <a:satMod val="109000"/>
                <a:lumMod val="105000"/>
              </a:schemeClr>
            </a:gs>
          </a:gsLst>
          <a:lin ang="5040000" scaled="0"/>
        </a:gradFill>
        <a:gradFill rotWithShape="1">
          <a:gsLst>
            <a:gs pos="0">
              <a:schemeClr val="phClr">
                <a:tint val="94000"/>
                <a:satMod val="105000"/>
                <a:lumMod val="102000"/>
              </a:schemeClr>
            </a:gs>
            <a:gs pos="100000">
              <a:schemeClr val="phClr">
                <a:shade val="74000"/>
                <a:satMod val="128000"/>
                <a:lumMod val="10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98000"/>
                <a:hueMod val="94000"/>
                <a:satMod val="148000"/>
                <a:lumMod val="150000"/>
              </a:schemeClr>
            </a:gs>
            <a:gs pos="100000">
              <a:schemeClr val="phClr">
                <a:shade val="92000"/>
                <a:hueMod val="104000"/>
                <a:satMod val="140000"/>
                <a:lumMod val="68000"/>
              </a:schemeClr>
            </a:gs>
          </a:gsLst>
          <a:lin ang="5040000" scaled="0"/>
        </a:gradFill>
        <a:blipFill>
          <a:blip xmlns:r="http://schemas.openxmlformats.org/officeDocument/2006/relationships" r:embed="rId1">
            <a:duotone>
              <a:schemeClr val="phClr">
                <a:shade val="88000"/>
                <a:hueMod val="106000"/>
                <a:satMod val="140000"/>
                <a:lumMod val="54000"/>
              </a:schemeClr>
              <a:schemeClr val="phClr">
                <a:tint val="98000"/>
                <a:hueMod val="90000"/>
                <a:satMod val="150000"/>
                <a:lumMod val="160000"/>
              </a:schemeClr>
            </a:duotone>
          </a:blip>
          <a:stretch/>
        </a:blipFill>
      </a:bgFillStyleLst>
    </a:fmtScheme>
  </a:themeElements>
  <a:objectDefaults/>
  <a:extraClrSchemeLst/>
  <a:extLst>
    <a:ext uri="{05A4C25C-085E-4340-85A3-A5531E510DB2}">
      <thm15:themeFamily xmlns:thm15="http://schemas.microsoft.com/office/thememl/2012/main" name="Circuit" id="{0AC2F7E7-15F5-431C-B2A2-456FE929F56C}" vid="{0911B802-464C-4241-8DD9-B60FF88E379F}"/>
    </a:ext>
  </a:extLst>
</a:theme>
</file>

<file path=docProps/app.xml><?xml version="1.0" encoding="utf-8"?>
<Properties xmlns="http://schemas.openxmlformats.org/officeDocument/2006/extended-properties" xmlns:vt="http://schemas.openxmlformats.org/officeDocument/2006/docPropsVTypes">
  <Template>Circuit</Template>
  <TotalTime>1206</TotalTime>
  <Words>1119</Words>
  <Application>Microsoft Office PowerPoint</Application>
  <PresentationFormat>Widescreen</PresentationFormat>
  <Paragraphs>116</Paragraphs>
  <Slides>19</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19</vt:i4>
      </vt:variant>
    </vt:vector>
  </HeadingPairs>
  <TitlesOfParts>
    <vt:vector size="26" baseType="lpstr">
      <vt:lpstr>Arial</vt:lpstr>
      <vt:lpstr>Candara</vt:lpstr>
      <vt:lpstr>Segoe Print</vt:lpstr>
      <vt:lpstr>Trebuchet MS</vt:lpstr>
      <vt:lpstr>Tw Cen MT</vt:lpstr>
      <vt:lpstr>Wingdings</vt:lpstr>
      <vt:lpstr>Circuit</vt:lpstr>
      <vt:lpstr>Counterfeit Integrated Circuit (IC) Detection Using Image Processing </vt:lpstr>
      <vt:lpstr>Declaration</vt:lpstr>
      <vt:lpstr>OBJECTIVEs</vt:lpstr>
      <vt:lpstr>contents</vt:lpstr>
      <vt:lpstr>INTRODUCTION</vt:lpstr>
      <vt:lpstr>BACKGROUND</vt:lpstr>
      <vt:lpstr>TESTS FOR COUNTERFEIT DETECTION</vt:lpstr>
      <vt:lpstr>WORK DONE</vt:lpstr>
      <vt:lpstr>Pin feature DETECTION AND EXTRACTION</vt:lpstr>
      <vt:lpstr>Results</vt:lpstr>
      <vt:lpstr>Challenges faced</vt:lpstr>
      <vt:lpstr>PREDICTED HYPOTHESES </vt:lpstr>
      <vt:lpstr>What is Cnn ?</vt:lpstr>
      <vt:lpstr>WHY USE CNN?</vt:lpstr>
      <vt:lpstr>How to use cnn?</vt:lpstr>
      <vt:lpstr>Future work</vt:lpstr>
      <vt:lpstr>conclusion</vt:lpstr>
      <vt:lpstr>References</vt:lpstr>
      <vt:lpstr>Thank you for your time!</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srutibh16@gmail.com</dc:creator>
  <cp:lastModifiedBy>Maniratnam Mandal</cp:lastModifiedBy>
  <cp:revision>49</cp:revision>
  <dcterms:created xsi:type="dcterms:W3CDTF">2017-11-15T16:40:57Z</dcterms:created>
  <dcterms:modified xsi:type="dcterms:W3CDTF">2017-11-27T01:11:56Z</dcterms:modified>
</cp:coreProperties>
</file>